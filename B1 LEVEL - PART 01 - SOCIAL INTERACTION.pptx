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65" r:id="rId10"/>
    <p:sldId id="263" r:id="rId11"/>
    <p:sldId id="271" r:id="rId12"/>
    <p:sldId id="409" r:id="rId13"/>
    <p:sldId id="266" r:id="rId14"/>
    <p:sldId id="410" r:id="rId15"/>
    <p:sldId id="411" r:id="rId16"/>
    <p:sldId id="416" r:id="rId17"/>
    <p:sldId id="417" r:id="rId18"/>
    <p:sldId id="413" r:id="rId19"/>
    <p:sldId id="414" r:id="rId20"/>
    <p:sldId id="418" r:id="rId21"/>
    <p:sldId id="419" r:id="rId22"/>
    <p:sldId id="420" r:id="rId23"/>
    <p:sldId id="421" r:id="rId24"/>
    <p:sldId id="422" r:id="rId25"/>
    <p:sldId id="423" r:id="rId26"/>
    <p:sldId id="424" r:id="rId27"/>
    <p:sldId id="425" r:id="rId28"/>
    <p:sldId id="426" r:id="rId29"/>
    <p:sldId id="427" r:id="rId30"/>
    <p:sldId id="428" r:id="rId31"/>
    <p:sldId id="429" r:id="rId32"/>
    <p:sldId id="308" r:id="rId33"/>
    <p:sldId id="309" r:id="rId34"/>
    <p:sldId id="430" r:id="rId35"/>
    <p:sldId id="431" r:id="rId36"/>
    <p:sldId id="432" r:id="rId37"/>
    <p:sldId id="317" r:id="rId38"/>
    <p:sldId id="318" r:id="rId39"/>
    <p:sldId id="319" r:id="rId40"/>
    <p:sldId id="433" r:id="rId41"/>
    <p:sldId id="434" r:id="rId42"/>
    <p:sldId id="435" r:id="rId43"/>
    <p:sldId id="436" r:id="rId44"/>
    <p:sldId id="437" r:id="rId45"/>
    <p:sldId id="438" r:id="rId46"/>
    <p:sldId id="439" r:id="rId47"/>
    <p:sldId id="440" r:id="rId48"/>
    <p:sldId id="441" r:id="rId49"/>
    <p:sldId id="442" r:id="rId50"/>
    <p:sldId id="443" r:id="rId51"/>
    <p:sldId id="444" r:id="rId52"/>
    <p:sldId id="445" r:id="rId53"/>
    <p:sldId id="446" r:id="rId54"/>
    <p:sldId id="447" r:id="rId55"/>
    <p:sldId id="448" r:id="rId56"/>
    <p:sldId id="449" r:id="rId57"/>
    <p:sldId id="450" r:id="rId58"/>
    <p:sldId id="334" r:id="rId59"/>
    <p:sldId id="451" r:id="rId60"/>
    <p:sldId id="452" r:id="rId61"/>
    <p:sldId id="453" r:id="rId62"/>
    <p:sldId id="454" r:id="rId63"/>
    <p:sldId id="455" r:id="rId64"/>
    <p:sldId id="456" r:id="rId65"/>
    <p:sldId id="387" r:id="rId66"/>
    <p:sldId id="457" r:id="rId67"/>
    <p:sldId id="458" r:id="rId68"/>
    <p:sldId id="459" r:id="rId69"/>
    <p:sldId id="379" r:id="rId70"/>
    <p:sldId id="460" r:id="rId71"/>
    <p:sldId id="461" r:id="rId72"/>
    <p:sldId id="462" r:id="rId73"/>
    <p:sldId id="396" r:id="rId74"/>
    <p:sldId id="463" r:id="rId75"/>
    <p:sldId id="464" r:id="rId76"/>
    <p:sldId id="465" r:id="rId77"/>
    <p:sldId id="466" r:id="rId78"/>
    <p:sldId id="467" r:id="rId79"/>
    <p:sldId id="468" r:id="rId80"/>
    <p:sldId id="469" r:id="rId81"/>
    <p:sldId id="470" r:id="rId82"/>
    <p:sldId id="471" r:id="rId83"/>
    <p:sldId id="472" r:id="rId84"/>
    <p:sldId id="473" r:id="rId85"/>
    <p:sldId id="474" r:id="rId86"/>
    <p:sldId id="475" r:id="rId87"/>
    <p:sldId id="476" r:id="rId88"/>
    <p:sldId id="477" r:id="rId89"/>
    <p:sldId id="478" r:id="rId9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46" autoAdjust="0"/>
    <p:restoredTop sz="94605" autoAdjust="0"/>
  </p:normalViewPr>
  <p:slideViewPr>
    <p:cSldViewPr>
      <p:cViewPr varScale="1">
        <p:scale>
          <a:sx n="88" d="100"/>
          <a:sy n="88" d="100"/>
        </p:scale>
        <p:origin x="9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2A124-538E-5B44-B1CA-A238E84DDED8}" type="datetimeFigureOut">
              <a:t>29/6/26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4602F-1ADD-A246-A578-2795EF4A2604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7457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64777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/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11259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7774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87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615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599" y="4603398"/>
            <a:ext cx="15544800" cy="3843513"/>
            <a:chOff x="0" y="0"/>
            <a:chExt cx="3180061" cy="1012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1012283"/>
            </a:xfrm>
            <a:custGeom>
              <a:avLst/>
              <a:gdLst/>
              <a:ahLst/>
              <a:cxnLst/>
              <a:rect l="l" t="t" r="r" b="b"/>
              <a:pathLst>
                <a:path w="3180061" h="1012283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979583"/>
                  </a:lnTo>
                  <a:cubicBezTo>
                    <a:pt x="3180061" y="997643"/>
                    <a:pt x="3165420" y="1012283"/>
                    <a:pt x="3147360" y="1012283"/>
                  </a:cubicBezTo>
                  <a:lnTo>
                    <a:pt x="32701" y="1012283"/>
                  </a:lnTo>
                  <a:cubicBezTo>
                    <a:pt x="14641" y="1012283"/>
                    <a:pt x="0" y="997643"/>
                    <a:pt x="0" y="979583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1059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31995" y="5140159"/>
            <a:ext cx="14224007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000" b="1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PART 01: </a:t>
            </a:r>
          </a:p>
          <a:p>
            <a:pPr algn="ctr"/>
            <a:r>
              <a:rPr lang="en-US" sz="9000" b="1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SOCIAL INTERACTION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5957435" y="1131803"/>
            <a:ext cx="6149141" cy="4114800"/>
          </a:xfrm>
          <a:custGeom>
            <a:avLst/>
            <a:gdLst/>
            <a:ahLst/>
            <a:cxnLst/>
            <a:rect l="l" t="t" r="r" b="b"/>
            <a:pathLst>
              <a:path w="6149141" h="4114800">
                <a:moveTo>
                  <a:pt x="0" y="0"/>
                </a:moveTo>
                <a:lnTo>
                  <a:pt x="6149141" y="0"/>
                </a:lnTo>
                <a:lnTo>
                  <a:pt x="61491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7" name="Freeform 7"/>
          <p:cNvSpPr/>
          <p:nvPr/>
        </p:nvSpPr>
        <p:spPr>
          <a:xfrm rot="-81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8" name="Freeform 8"/>
          <p:cNvSpPr/>
          <p:nvPr/>
        </p:nvSpPr>
        <p:spPr>
          <a:xfrm>
            <a:off x="-314325" y="9489359"/>
            <a:ext cx="7315200" cy="938784"/>
          </a:xfrm>
          <a:custGeom>
            <a:avLst/>
            <a:gdLst/>
            <a:ahLst/>
            <a:cxnLst/>
            <a:rect l="l" t="t" r="r" b="b"/>
            <a:pathLst>
              <a:path w="7315200" h="938784">
                <a:moveTo>
                  <a:pt x="0" y="0"/>
                </a:moveTo>
                <a:lnTo>
                  <a:pt x="7315200" y="0"/>
                </a:lnTo>
                <a:lnTo>
                  <a:pt x="7315200" y="938784"/>
                </a:lnTo>
                <a:lnTo>
                  <a:pt x="0" y="93878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Freeform 9"/>
          <p:cNvSpPr/>
          <p:nvPr/>
        </p:nvSpPr>
        <p:spPr>
          <a:xfrm>
            <a:off x="6616057" y="9489359"/>
            <a:ext cx="7315200" cy="938784"/>
          </a:xfrm>
          <a:custGeom>
            <a:avLst/>
            <a:gdLst/>
            <a:ahLst/>
            <a:cxnLst/>
            <a:rect l="l" t="t" r="r" b="b"/>
            <a:pathLst>
              <a:path w="7315200" h="938784">
                <a:moveTo>
                  <a:pt x="0" y="0"/>
                </a:moveTo>
                <a:lnTo>
                  <a:pt x="7315200" y="0"/>
                </a:lnTo>
                <a:lnTo>
                  <a:pt x="7315200" y="938784"/>
                </a:lnTo>
                <a:lnTo>
                  <a:pt x="0" y="93878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13546438" y="9489359"/>
            <a:ext cx="7315200" cy="938784"/>
          </a:xfrm>
          <a:custGeom>
            <a:avLst/>
            <a:gdLst/>
            <a:ahLst/>
            <a:cxnLst/>
            <a:rect l="l" t="t" r="r" b="b"/>
            <a:pathLst>
              <a:path w="7315200" h="938784">
                <a:moveTo>
                  <a:pt x="0" y="0"/>
                </a:moveTo>
                <a:lnTo>
                  <a:pt x="7315200" y="0"/>
                </a:lnTo>
                <a:lnTo>
                  <a:pt x="7315200" y="938784"/>
                </a:lnTo>
                <a:lnTo>
                  <a:pt x="0" y="93878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 rot="6839211">
            <a:off x="-242603" y="-873013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/>
          <p:cNvSpPr/>
          <p:nvPr/>
        </p:nvSpPr>
        <p:spPr>
          <a:xfrm>
            <a:off x="16015798" y="7009995"/>
            <a:ext cx="1230799" cy="2192961"/>
          </a:xfrm>
          <a:custGeom>
            <a:avLst/>
            <a:gdLst/>
            <a:ahLst/>
            <a:cxnLst/>
            <a:rect l="l" t="t" r="r" b="b"/>
            <a:pathLst>
              <a:path w="1230799" h="2192961">
                <a:moveTo>
                  <a:pt x="0" y="0"/>
                </a:moveTo>
                <a:lnTo>
                  <a:pt x="1230799" y="0"/>
                </a:lnTo>
                <a:lnTo>
                  <a:pt x="1230799" y="2192961"/>
                </a:lnTo>
                <a:lnTo>
                  <a:pt x="0" y="219296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Freeform 13"/>
          <p:cNvSpPr/>
          <p:nvPr/>
        </p:nvSpPr>
        <p:spPr>
          <a:xfrm>
            <a:off x="3343275" y="347338"/>
            <a:ext cx="3545606" cy="1568930"/>
          </a:xfrm>
          <a:custGeom>
            <a:avLst/>
            <a:gdLst/>
            <a:ahLst/>
            <a:cxnLst/>
            <a:rect l="l" t="t" r="r" b="b"/>
            <a:pathLst>
              <a:path w="3545606" h="1568930">
                <a:moveTo>
                  <a:pt x="0" y="0"/>
                </a:moveTo>
                <a:lnTo>
                  <a:pt x="3545606" y="0"/>
                </a:lnTo>
                <a:lnTo>
                  <a:pt x="3545606" y="1568931"/>
                </a:lnTo>
                <a:lnTo>
                  <a:pt x="0" y="156893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4" name="Freeform 14"/>
          <p:cNvSpPr/>
          <p:nvPr/>
        </p:nvSpPr>
        <p:spPr>
          <a:xfrm rot="-806208">
            <a:off x="733199" y="7164986"/>
            <a:ext cx="1506140" cy="2206799"/>
          </a:xfrm>
          <a:custGeom>
            <a:avLst/>
            <a:gdLst/>
            <a:ahLst/>
            <a:cxnLst/>
            <a:rect l="l" t="t" r="r" b="b"/>
            <a:pathLst>
              <a:path w="1506140" h="2206799">
                <a:moveTo>
                  <a:pt x="0" y="0"/>
                </a:moveTo>
                <a:lnTo>
                  <a:pt x="1506140" y="0"/>
                </a:lnTo>
                <a:lnTo>
                  <a:pt x="1506140" y="2206799"/>
                </a:lnTo>
                <a:lnTo>
                  <a:pt x="0" y="220679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80185" y="630759"/>
            <a:ext cx="12074293" cy="1675829"/>
            <a:chOff x="0" y="0"/>
            <a:chExt cx="3180061" cy="441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441371"/>
            </a:xfrm>
            <a:custGeom>
              <a:avLst/>
              <a:gdLst/>
              <a:ahLst/>
              <a:cxnLst/>
              <a:rect l="l" t="t" r="r" b="b"/>
              <a:pathLst>
                <a:path w="3180061" h="441371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408670"/>
                  </a:lnTo>
                  <a:cubicBezTo>
                    <a:pt x="3180061" y="426730"/>
                    <a:pt x="3165420" y="441371"/>
                    <a:pt x="3147360" y="441371"/>
                  </a:cubicBezTo>
                  <a:lnTo>
                    <a:pt x="32701" y="441371"/>
                  </a:lnTo>
                  <a:cubicBezTo>
                    <a:pt x="14641" y="441371"/>
                    <a:pt x="0" y="426730"/>
                    <a:pt x="0" y="408670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488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3" y="2949856"/>
            <a:ext cx="16817333" cy="6613244"/>
            <a:chOff x="0" y="0"/>
            <a:chExt cx="1049357" cy="14801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9357" cy="1480188"/>
            </a:xfrm>
            <a:custGeom>
              <a:avLst/>
              <a:gdLst/>
              <a:ahLst/>
              <a:cxnLst/>
              <a:rect l="l" t="t" r="r" b="b"/>
              <a:pathLst>
                <a:path w="1049357" h="1480188">
                  <a:moveTo>
                    <a:pt x="76508" y="0"/>
                  </a:moveTo>
                  <a:lnTo>
                    <a:pt x="972849" y="0"/>
                  </a:lnTo>
                  <a:cubicBezTo>
                    <a:pt x="993140" y="0"/>
                    <a:pt x="1012600" y="8061"/>
                    <a:pt x="1026948" y="22409"/>
                  </a:cubicBezTo>
                  <a:cubicBezTo>
                    <a:pt x="1041296" y="36757"/>
                    <a:pt x="1049357" y="56217"/>
                    <a:pt x="1049357" y="76508"/>
                  </a:cubicBezTo>
                  <a:lnTo>
                    <a:pt x="1049357" y="1403680"/>
                  </a:lnTo>
                  <a:cubicBezTo>
                    <a:pt x="1049357" y="1445934"/>
                    <a:pt x="1015103" y="1480188"/>
                    <a:pt x="972849" y="1480188"/>
                  </a:cubicBezTo>
                  <a:lnTo>
                    <a:pt x="76508" y="1480188"/>
                  </a:lnTo>
                  <a:cubicBezTo>
                    <a:pt x="56217" y="1480188"/>
                    <a:pt x="36757" y="1472127"/>
                    <a:pt x="22409" y="1457779"/>
                  </a:cubicBezTo>
                  <a:cubicBezTo>
                    <a:pt x="8061" y="1443431"/>
                    <a:pt x="0" y="1423971"/>
                    <a:pt x="0" y="1403680"/>
                  </a:cubicBezTo>
                  <a:lnTo>
                    <a:pt x="0" y="76508"/>
                  </a:lnTo>
                  <a:cubicBezTo>
                    <a:pt x="0" y="56217"/>
                    <a:pt x="8061" y="36757"/>
                    <a:pt x="22409" y="22409"/>
                  </a:cubicBezTo>
                  <a:cubicBezTo>
                    <a:pt x="36757" y="8061"/>
                    <a:pt x="56217" y="0"/>
                    <a:pt x="7650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49357" cy="1527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500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7108545" y="7974307"/>
            <a:ext cx="1113568" cy="2057400"/>
          </a:xfrm>
          <a:custGeom>
            <a:avLst/>
            <a:gdLst/>
            <a:ahLst/>
            <a:cxnLst/>
            <a:rect l="l" t="t" r="r" b="b"/>
            <a:pathLst>
              <a:path w="1113568" h="2057400">
                <a:moveTo>
                  <a:pt x="0" y="0"/>
                </a:moveTo>
                <a:lnTo>
                  <a:pt x="1113568" y="0"/>
                </a:lnTo>
                <a:lnTo>
                  <a:pt x="111356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6" name="Freeform 26"/>
          <p:cNvSpPr/>
          <p:nvPr/>
        </p:nvSpPr>
        <p:spPr>
          <a:xfrm rot="6578351">
            <a:off x="-147566" y="214075"/>
            <a:ext cx="1647153" cy="2614529"/>
          </a:xfrm>
          <a:custGeom>
            <a:avLst/>
            <a:gdLst/>
            <a:ahLst/>
            <a:cxnLst/>
            <a:rect l="l" t="t" r="r" b="b"/>
            <a:pathLst>
              <a:path w="1647153" h="2614529">
                <a:moveTo>
                  <a:pt x="0" y="0"/>
                </a:moveTo>
                <a:lnTo>
                  <a:pt x="1647153" y="0"/>
                </a:lnTo>
                <a:lnTo>
                  <a:pt x="1647153" y="2614529"/>
                </a:lnTo>
                <a:lnTo>
                  <a:pt x="0" y="261452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7" name="Freeform 27"/>
          <p:cNvSpPr/>
          <p:nvPr/>
        </p:nvSpPr>
        <p:spPr>
          <a:xfrm flipH="1">
            <a:off x="-441624" y="7325135"/>
            <a:ext cx="1675843" cy="2446486"/>
          </a:xfrm>
          <a:custGeom>
            <a:avLst/>
            <a:gdLst/>
            <a:ahLst/>
            <a:cxnLst/>
            <a:rect l="l" t="t" r="r" b="b"/>
            <a:pathLst>
              <a:path w="1675843" h="2446486">
                <a:moveTo>
                  <a:pt x="1675843" y="0"/>
                </a:moveTo>
                <a:lnTo>
                  <a:pt x="0" y="0"/>
                </a:lnTo>
                <a:lnTo>
                  <a:pt x="0" y="2446486"/>
                </a:lnTo>
                <a:lnTo>
                  <a:pt x="1675843" y="2446486"/>
                </a:lnTo>
                <a:lnTo>
                  <a:pt x="1675843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8" name="Freeform 28"/>
          <p:cNvSpPr/>
          <p:nvPr/>
        </p:nvSpPr>
        <p:spPr>
          <a:xfrm>
            <a:off x="14363398" y="-2415"/>
            <a:ext cx="2725033" cy="2057400"/>
          </a:xfrm>
          <a:custGeom>
            <a:avLst/>
            <a:gdLst/>
            <a:ahLst/>
            <a:cxnLst/>
            <a:rect l="l" t="t" r="r" b="b"/>
            <a:pathLst>
              <a:path w="2725033" h="2057400">
                <a:moveTo>
                  <a:pt x="0" y="0"/>
                </a:moveTo>
                <a:lnTo>
                  <a:pt x="2725033" y="0"/>
                </a:lnTo>
                <a:lnTo>
                  <a:pt x="272503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9" name="TextBox 29"/>
          <p:cNvSpPr txBox="1"/>
          <p:nvPr/>
        </p:nvSpPr>
        <p:spPr>
          <a:xfrm>
            <a:off x="4721716" y="723900"/>
            <a:ext cx="8889128" cy="14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678" b="1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TỔNG QUAN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B627E-EF72-ADA7-7078-67F6C68B9CD3}"/>
              </a:ext>
            </a:extLst>
          </p:cNvPr>
          <p:cNvSpPr txBox="1"/>
          <p:nvPr/>
        </p:nvSpPr>
        <p:spPr>
          <a:xfrm>
            <a:off x="1066799" y="3418463"/>
            <a:ext cx="16230601" cy="5693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Yêu cầu đề: Đề bài sẽ cho thí sinh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 chủ đề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bất kì, mỗi chủ đề bao gồm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 câu hỏi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Thí sinh sẽ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lần lượt trả lời các câu hỏi của 2 chủ đề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trong thời gian quy định. </a:t>
            </a:r>
            <a:endParaRPr lang="en-VN" sz="40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Thời gian thi: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 phút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40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Không có thời gian chuẩn bị 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4000" b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Tự dành ra 30-40s để đọc nhanh 2 chủ đề 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4000" b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Ưu tiên trả lời chủ đề dễ trước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VN" sz="40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266700"/>
            <a:ext cx="17678400" cy="9667487"/>
            <a:chOff x="0" y="0"/>
            <a:chExt cx="3180061" cy="441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441371"/>
            </a:xfrm>
            <a:custGeom>
              <a:avLst/>
              <a:gdLst/>
              <a:ahLst/>
              <a:cxnLst/>
              <a:rect l="l" t="t" r="r" b="b"/>
              <a:pathLst>
                <a:path w="3180061" h="441371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408670"/>
                  </a:lnTo>
                  <a:cubicBezTo>
                    <a:pt x="3180061" y="426730"/>
                    <a:pt x="3165420" y="441371"/>
                    <a:pt x="3147360" y="441371"/>
                  </a:cubicBezTo>
                  <a:lnTo>
                    <a:pt x="32701" y="441371"/>
                  </a:lnTo>
                  <a:cubicBezTo>
                    <a:pt x="14641" y="441371"/>
                    <a:pt x="0" y="426730"/>
                    <a:pt x="0" y="408670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488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452240" y="816428"/>
            <a:ext cx="1501988" cy="2360689"/>
          </a:xfrm>
          <a:custGeom>
            <a:avLst/>
            <a:gdLst/>
            <a:ahLst/>
            <a:cxnLst/>
            <a:rect l="l" t="t" r="r" b="b"/>
            <a:pathLst>
              <a:path w="1501988" h="2360689">
                <a:moveTo>
                  <a:pt x="0" y="0"/>
                </a:moveTo>
                <a:lnTo>
                  <a:pt x="1501988" y="0"/>
                </a:lnTo>
                <a:lnTo>
                  <a:pt x="1501988" y="2360689"/>
                </a:lnTo>
                <a:lnTo>
                  <a:pt x="0" y="236068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/>
          <p:cNvSpPr/>
          <p:nvPr/>
        </p:nvSpPr>
        <p:spPr>
          <a:xfrm>
            <a:off x="-355961" y="6674532"/>
            <a:ext cx="1785271" cy="2360689"/>
          </a:xfrm>
          <a:custGeom>
            <a:avLst/>
            <a:gdLst/>
            <a:ahLst/>
            <a:cxnLst/>
            <a:rect l="l" t="t" r="r" b="b"/>
            <a:pathLst>
              <a:path w="1785271" h="2360689">
                <a:moveTo>
                  <a:pt x="0" y="0"/>
                </a:moveTo>
                <a:lnTo>
                  <a:pt x="1785271" y="0"/>
                </a:lnTo>
                <a:lnTo>
                  <a:pt x="1785271" y="2360689"/>
                </a:lnTo>
                <a:lnTo>
                  <a:pt x="0" y="236068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3F7EBD-34FA-C29A-8A09-3BAFF42299B8}"/>
              </a:ext>
            </a:extLst>
          </p:cNvPr>
          <p:cNvSpPr txBox="1"/>
          <p:nvPr/>
        </p:nvSpPr>
        <p:spPr>
          <a:xfrm>
            <a:off x="838200" y="571500"/>
            <a:ext cx="16611600" cy="9131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 DỤ MINH HOẠ: 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Let's talk about</a:t>
            </a:r>
            <a:r>
              <a:rPr lang="en-US" sz="36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leisure activities</a:t>
            </a: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have a lot of spare time?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spend your free time?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leisure activities do people usually do in your hometown?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Let's talk about</a:t>
            </a:r>
            <a:r>
              <a:rPr lang="en-US" sz="36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hobbies</a:t>
            </a: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have any hobbies?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on your hobby?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it important to have a hobby in your life?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35989" y="364818"/>
            <a:ext cx="17571011" cy="9557363"/>
            <a:chOff x="0" y="0"/>
            <a:chExt cx="4274726" cy="1358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156728" y="7912890"/>
            <a:ext cx="2281341" cy="2721282"/>
          </a:xfrm>
          <a:custGeom>
            <a:avLst/>
            <a:gdLst/>
            <a:ahLst/>
            <a:cxnLst/>
            <a:rect l="l" t="t" r="r" b="b"/>
            <a:pathLst>
              <a:path w="2281341" h="2721282">
                <a:moveTo>
                  <a:pt x="0" y="0"/>
                </a:moveTo>
                <a:lnTo>
                  <a:pt x="2281341" y="0"/>
                </a:lnTo>
                <a:lnTo>
                  <a:pt x="2281341" y="2721282"/>
                </a:lnTo>
                <a:lnTo>
                  <a:pt x="0" y="272128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AD53A-FE3F-9734-C63B-736F06A62CC6}"/>
              </a:ext>
            </a:extLst>
          </p:cNvPr>
          <p:cNvSpPr txBox="1"/>
          <p:nvPr/>
        </p:nvSpPr>
        <p:spPr>
          <a:xfrm>
            <a:off x="838200" y="1181036"/>
            <a:ext cx="16611600" cy="792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CÁCH DẪN DẮT CÂU TRẢ LỜI: 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 bắt đầu chủ đề đầu tiên: </a:t>
            </a:r>
            <a:r>
              <a:rPr lang="en-VN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Let’s talk about the topic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[tên chủ đề] 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Sau đó trả lời lần lượt trả lời 3 câu hỏi thuộc chủ đề đó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[Number 1… Number 2… Number 3]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Không cần lặp lại câu hỏi trong lúc trả lời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VN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 chuyển sang chủ đề thứ hai: </a:t>
            </a:r>
            <a:r>
              <a:rPr lang="en-US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Now I will continue with the topic 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tên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tục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[Number 1… Number 2… Number 3]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VN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04800" y="285332"/>
            <a:ext cx="17678400" cy="9716336"/>
            <a:chOff x="0" y="0"/>
            <a:chExt cx="2045195" cy="13787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5195" cy="1378739"/>
            </a:xfrm>
            <a:custGeom>
              <a:avLst/>
              <a:gdLst/>
              <a:ahLst/>
              <a:cxnLst/>
              <a:rect l="l" t="t" r="r" b="b"/>
              <a:pathLst>
                <a:path w="2045195" h="1378739">
                  <a:moveTo>
                    <a:pt x="50846" y="0"/>
                  </a:moveTo>
                  <a:lnTo>
                    <a:pt x="1994349" y="0"/>
                  </a:lnTo>
                  <a:cubicBezTo>
                    <a:pt x="2007834" y="0"/>
                    <a:pt x="2020767" y="5357"/>
                    <a:pt x="2030302" y="14892"/>
                  </a:cubicBezTo>
                  <a:cubicBezTo>
                    <a:pt x="2039838" y="24428"/>
                    <a:pt x="2045195" y="37361"/>
                    <a:pt x="2045195" y="50846"/>
                  </a:cubicBezTo>
                  <a:lnTo>
                    <a:pt x="2045195" y="1327893"/>
                  </a:lnTo>
                  <a:cubicBezTo>
                    <a:pt x="2045195" y="1341378"/>
                    <a:pt x="2039838" y="1354311"/>
                    <a:pt x="2030302" y="1363847"/>
                  </a:cubicBezTo>
                  <a:cubicBezTo>
                    <a:pt x="2020767" y="1373382"/>
                    <a:pt x="2007834" y="1378739"/>
                    <a:pt x="1994349" y="1378739"/>
                  </a:cubicBezTo>
                  <a:lnTo>
                    <a:pt x="50846" y="1378739"/>
                  </a:lnTo>
                  <a:cubicBezTo>
                    <a:pt x="37361" y="1378739"/>
                    <a:pt x="24428" y="1373382"/>
                    <a:pt x="14892" y="1363847"/>
                  </a:cubicBezTo>
                  <a:cubicBezTo>
                    <a:pt x="5357" y="1354311"/>
                    <a:pt x="0" y="1341378"/>
                    <a:pt x="0" y="1327893"/>
                  </a:cubicBezTo>
                  <a:lnTo>
                    <a:pt x="0" y="50846"/>
                  </a:lnTo>
                  <a:cubicBezTo>
                    <a:pt x="0" y="37361"/>
                    <a:pt x="5357" y="24428"/>
                    <a:pt x="14892" y="14892"/>
                  </a:cubicBezTo>
                  <a:cubicBezTo>
                    <a:pt x="24428" y="5357"/>
                    <a:pt x="37361" y="0"/>
                    <a:pt x="50846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45195" cy="142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43196" y="7944268"/>
            <a:ext cx="1590008" cy="2275504"/>
          </a:xfrm>
          <a:custGeom>
            <a:avLst/>
            <a:gdLst/>
            <a:ahLst/>
            <a:cxnLst/>
            <a:rect l="l" t="t" r="r" b="b"/>
            <a:pathLst>
              <a:path w="1590008" h="2275504">
                <a:moveTo>
                  <a:pt x="0" y="0"/>
                </a:moveTo>
                <a:lnTo>
                  <a:pt x="1590008" y="0"/>
                </a:lnTo>
                <a:lnTo>
                  <a:pt x="1590008" y="2275504"/>
                </a:lnTo>
                <a:lnTo>
                  <a:pt x="0" y="227550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4" name="Freeform 14"/>
          <p:cNvSpPr/>
          <p:nvPr/>
        </p:nvSpPr>
        <p:spPr>
          <a:xfrm flipH="1">
            <a:off x="16216106" y="7944268"/>
            <a:ext cx="1561052" cy="2057400"/>
          </a:xfrm>
          <a:custGeom>
            <a:avLst/>
            <a:gdLst/>
            <a:ahLst/>
            <a:cxnLst/>
            <a:rect l="l" t="t" r="r" b="b"/>
            <a:pathLst>
              <a:path w="1561052" h="2057400">
                <a:moveTo>
                  <a:pt x="1561052" y="0"/>
                </a:moveTo>
                <a:lnTo>
                  <a:pt x="0" y="0"/>
                </a:lnTo>
                <a:lnTo>
                  <a:pt x="0" y="2057400"/>
                </a:lnTo>
                <a:lnTo>
                  <a:pt x="1561052" y="2057400"/>
                </a:lnTo>
                <a:lnTo>
                  <a:pt x="1561052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9" name="Freeform 19"/>
          <p:cNvSpPr/>
          <p:nvPr/>
        </p:nvSpPr>
        <p:spPr>
          <a:xfrm>
            <a:off x="16401737" y="-16329"/>
            <a:ext cx="1403907" cy="1459869"/>
          </a:xfrm>
          <a:custGeom>
            <a:avLst/>
            <a:gdLst/>
            <a:ahLst/>
            <a:cxnLst/>
            <a:rect l="l" t="t" r="r" b="b"/>
            <a:pathLst>
              <a:path w="1403907" h="1459869">
                <a:moveTo>
                  <a:pt x="0" y="0"/>
                </a:moveTo>
                <a:lnTo>
                  <a:pt x="1403907" y="0"/>
                </a:lnTo>
                <a:lnTo>
                  <a:pt x="1403907" y="1459869"/>
                </a:lnTo>
                <a:lnTo>
                  <a:pt x="0" y="145986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D263C17A-308E-2722-9B7C-23D9B092A508}"/>
              </a:ext>
            </a:extLst>
          </p:cNvPr>
          <p:cNvSpPr/>
          <p:nvPr/>
        </p:nvSpPr>
        <p:spPr>
          <a:xfrm>
            <a:off x="-180737" y="-93814"/>
            <a:ext cx="1326185" cy="1614837"/>
          </a:xfrm>
          <a:custGeom>
            <a:avLst/>
            <a:gdLst/>
            <a:ahLst/>
            <a:cxnLst/>
            <a:rect l="l" t="t" r="r" b="b"/>
            <a:pathLst>
              <a:path w="1326185" h="1614837">
                <a:moveTo>
                  <a:pt x="0" y="0"/>
                </a:moveTo>
                <a:lnTo>
                  <a:pt x="1326185" y="0"/>
                </a:lnTo>
                <a:lnTo>
                  <a:pt x="1326185" y="1614836"/>
                </a:lnTo>
                <a:lnTo>
                  <a:pt x="0" y="161483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00CAD-4C1D-B26A-CFD2-BF36662A768D}"/>
              </a:ext>
            </a:extLst>
          </p:cNvPr>
          <p:cNvSpPr txBox="1"/>
          <p:nvPr/>
        </p:nvSpPr>
        <p:spPr>
          <a:xfrm>
            <a:off x="839229" y="1181100"/>
            <a:ext cx="16459200" cy="774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TYPES OF QUESTIONS: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There are 03 main types of questions in VSTEP SPEAKING PART 01: </a:t>
            </a:r>
            <a:endParaRPr lang="en-VN" sz="5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Yes/No 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Choice 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Wh-questions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28600" y="103593"/>
            <a:ext cx="17830800" cy="9764307"/>
            <a:chOff x="0" y="-47625"/>
            <a:chExt cx="4274726" cy="1405798"/>
          </a:xfrm>
        </p:grpSpPr>
        <p:sp>
          <p:nvSpPr>
            <p:cNvPr id="7" name="Freeform 7"/>
            <p:cNvSpPr/>
            <p:nvPr/>
          </p:nvSpPr>
          <p:spPr>
            <a:xfrm>
              <a:off x="19950" y="-11502"/>
              <a:ext cx="4234826" cy="1369675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414126" y="8172594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45B50B-571E-081E-1E85-5D5D4F6F5012}"/>
              </a:ext>
            </a:extLst>
          </p:cNvPr>
          <p:cNvSpPr txBox="1"/>
          <p:nvPr/>
        </p:nvSpPr>
        <p:spPr>
          <a:xfrm>
            <a:off x="568651" y="1259886"/>
            <a:ext cx="17150698" cy="745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I. YES/NO QUESTIONS</a:t>
            </a:r>
            <a:endParaRPr lang="en-VN" sz="6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endParaRPr lang="en-VN" sz="5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often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any hobbies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ever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traveled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abroad?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BF3704A7-BED2-310A-23A0-6F7E923EA7AB}"/>
              </a:ext>
            </a:extLst>
          </p:cNvPr>
          <p:cNvSpPr/>
          <p:nvPr/>
        </p:nvSpPr>
        <p:spPr>
          <a:xfrm>
            <a:off x="527702" y="8004278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E893D-DF9D-8F48-7096-D50ADA4B633A}"/>
              </a:ext>
            </a:extLst>
          </p:cNvPr>
          <p:cNvSpPr txBox="1"/>
          <p:nvPr/>
        </p:nvSpPr>
        <p:spPr>
          <a:xfrm>
            <a:off x="12948302" y="3238500"/>
            <a:ext cx="4069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do/does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3BB71-D677-F0E9-901E-7339EA554575}"/>
              </a:ext>
            </a:extLst>
          </p:cNvPr>
          <p:cNvSpPr txBox="1"/>
          <p:nvPr/>
        </p:nvSpPr>
        <p:spPr>
          <a:xfrm>
            <a:off x="12948302" y="4334528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QKĐ: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did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4EE7A-B466-80B2-C454-69EF7E9E08F6}"/>
              </a:ext>
            </a:extLst>
          </p:cNvPr>
          <p:cNvSpPr txBox="1"/>
          <p:nvPr/>
        </p:nvSpPr>
        <p:spPr>
          <a:xfrm>
            <a:off x="12948302" y="5438839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HTHT: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have/has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715EDE-B2B9-C797-90D5-586446A0220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1970416" y="4784909"/>
            <a:ext cx="977886" cy="10078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DF7021-5B8B-DA32-2093-8F0452278418}"/>
              </a:ext>
            </a:extLst>
          </p:cNvPr>
          <p:cNvCxnSpPr>
            <a:cxnSpLocks/>
          </p:cNvCxnSpPr>
          <p:nvPr/>
        </p:nvCxnSpPr>
        <p:spPr>
          <a:xfrm flipV="1">
            <a:off x="11970416" y="3742327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F9A662-F0DE-9C6D-D4C3-726C018F6683}"/>
              </a:ext>
            </a:extLst>
          </p:cNvPr>
          <p:cNvCxnSpPr>
            <a:cxnSpLocks/>
          </p:cNvCxnSpPr>
          <p:nvPr/>
        </p:nvCxnSpPr>
        <p:spPr>
          <a:xfrm>
            <a:off x="11949941" y="4763313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B6E43-0A1C-67C4-B554-E18A650B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3F29000-0F68-9CA8-D168-584021692F2E}"/>
              </a:ext>
            </a:extLst>
          </p:cNvPr>
          <p:cNvGrpSpPr/>
          <p:nvPr/>
        </p:nvGrpSpPr>
        <p:grpSpPr>
          <a:xfrm>
            <a:off x="304800" y="342900"/>
            <a:ext cx="17678400" cy="9601200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93B4988-148F-F3EA-0AD6-834ED23F433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9DB80B7-6566-A33E-8648-182DBF90BE4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1C98448-60AA-F80A-D1D2-C9F6E6C90BDC}"/>
              </a:ext>
            </a:extLst>
          </p:cNvPr>
          <p:cNvSpPr/>
          <p:nvPr/>
        </p:nvSpPr>
        <p:spPr>
          <a:xfrm>
            <a:off x="16414126" y="8172594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0DE1463-E599-4E00-8398-6EE4EE2C9F98}"/>
              </a:ext>
            </a:extLst>
          </p:cNvPr>
          <p:cNvSpPr/>
          <p:nvPr/>
        </p:nvSpPr>
        <p:spPr>
          <a:xfrm>
            <a:off x="527702" y="8004278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2B420-FCF2-3005-F66D-A77A381615F7}"/>
              </a:ext>
            </a:extLst>
          </p:cNvPr>
          <p:cNvSpPr txBox="1"/>
          <p:nvPr/>
        </p:nvSpPr>
        <p:spPr>
          <a:xfrm>
            <a:off x="644851" y="1648472"/>
            <a:ext cx="16998298" cy="699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tobe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45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interested in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sports?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reading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to you? 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khiếm</a:t>
            </a:r>
            <a:r>
              <a:rPr lang="en-US" sz="4500" b="1" u="sng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khuyết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 	</a:t>
            </a:r>
          </a:p>
          <a:p>
            <a:pPr lvl="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 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introduce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yourself?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students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 soft skills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 school?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79F26-B3A5-B2F2-E8B7-2EDF38786E6C}"/>
              </a:ext>
            </a:extLst>
          </p:cNvPr>
          <p:cNvSpPr txBox="1"/>
          <p:nvPr/>
        </p:nvSpPr>
        <p:spPr>
          <a:xfrm>
            <a:off x="13347988" y="870239"/>
            <a:ext cx="4559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am/is/are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C5714-3CF1-C3FB-CA26-E0F4AD637E30}"/>
              </a:ext>
            </a:extLst>
          </p:cNvPr>
          <p:cNvSpPr txBox="1"/>
          <p:nvPr/>
        </p:nvSpPr>
        <p:spPr>
          <a:xfrm>
            <a:off x="13347988" y="1966267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QKĐ: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was/were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37D121-11D4-EFF9-25CF-9E3879C2703E}"/>
              </a:ext>
            </a:extLst>
          </p:cNvPr>
          <p:cNvCxnSpPr>
            <a:cxnSpLocks/>
          </p:cNvCxnSpPr>
          <p:nvPr/>
        </p:nvCxnSpPr>
        <p:spPr>
          <a:xfrm flipV="1">
            <a:off x="12370102" y="1374066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2D1911-397A-72EC-243A-36361F72644E}"/>
              </a:ext>
            </a:extLst>
          </p:cNvPr>
          <p:cNvCxnSpPr>
            <a:cxnSpLocks/>
          </p:cNvCxnSpPr>
          <p:nvPr/>
        </p:nvCxnSpPr>
        <p:spPr>
          <a:xfrm>
            <a:off x="12349627" y="2395052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0EE666-24C8-BF07-1EEE-1F6A93D13292}"/>
              </a:ext>
            </a:extLst>
          </p:cNvPr>
          <p:cNvSpPr txBox="1"/>
          <p:nvPr/>
        </p:nvSpPr>
        <p:spPr>
          <a:xfrm>
            <a:off x="13573423" y="3693528"/>
            <a:ext cx="4069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can, will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B5A9F-B175-4326-0BC4-9B7344D2350B}"/>
              </a:ext>
            </a:extLst>
          </p:cNvPr>
          <p:cNvSpPr txBox="1"/>
          <p:nvPr/>
        </p:nvSpPr>
        <p:spPr>
          <a:xfrm>
            <a:off x="13573423" y="4789556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should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6A3CF6-7226-24FA-C021-9419F189AFD2}"/>
              </a:ext>
            </a:extLst>
          </p:cNvPr>
          <p:cNvCxnSpPr>
            <a:cxnSpLocks/>
          </p:cNvCxnSpPr>
          <p:nvPr/>
        </p:nvCxnSpPr>
        <p:spPr>
          <a:xfrm flipV="1">
            <a:off x="12595537" y="4197355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F74CE5-373B-021A-6A7C-605A23E9E259}"/>
              </a:ext>
            </a:extLst>
          </p:cNvPr>
          <p:cNvCxnSpPr>
            <a:cxnSpLocks/>
          </p:cNvCxnSpPr>
          <p:nvPr/>
        </p:nvCxnSpPr>
        <p:spPr>
          <a:xfrm>
            <a:off x="12575062" y="5218341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56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545A6-F72E-FE30-A797-3AA85E73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9E3C55EA-CA83-1EBA-3ADB-E2710E8D5B66}"/>
              </a:ext>
            </a:extLst>
          </p:cNvPr>
          <p:cNvGrpSpPr/>
          <p:nvPr/>
        </p:nvGrpSpPr>
        <p:grpSpPr>
          <a:xfrm>
            <a:off x="228600" y="103592"/>
            <a:ext cx="17830800" cy="9764308"/>
            <a:chOff x="0" y="-47625"/>
            <a:chExt cx="4274726" cy="14057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72586E-8BC6-EC9F-0CBF-529689EA66A9}"/>
                </a:ext>
              </a:extLst>
            </p:cNvPr>
            <p:cNvSpPr/>
            <p:nvPr/>
          </p:nvSpPr>
          <p:spPr>
            <a:xfrm>
              <a:off x="18268" y="-11502"/>
              <a:ext cx="4256458" cy="1369675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40676BA-028B-B945-50F0-1E11E1050DF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F767302-9099-AA8C-C602-AB8936391292}"/>
              </a:ext>
            </a:extLst>
          </p:cNvPr>
          <p:cNvSpPr/>
          <p:nvPr/>
        </p:nvSpPr>
        <p:spPr>
          <a:xfrm>
            <a:off x="16637027" y="8184416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5BB69-CC9C-C413-3179-B0F985508D8B}"/>
              </a:ext>
            </a:extLst>
          </p:cNvPr>
          <p:cNvSpPr txBox="1"/>
          <p:nvPr/>
        </p:nvSpPr>
        <p:spPr>
          <a:xfrm>
            <a:off x="876300" y="1383444"/>
            <a:ext cx="16535399" cy="7455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5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01: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(Yes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No)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02: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thích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YES,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NO) </a:t>
            </a:r>
            <a:r>
              <a:rPr lang="en-VN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endParaRPr lang="en-VN" sz="5000" b="1" dirty="0">
              <a:solidFill>
                <a:srgbClr val="FF0000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03: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luận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VN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B2+ </a:t>
            </a:r>
            <a:endParaRPr lang="en-VN" sz="5000" b="1" dirty="0">
              <a:solidFill>
                <a:srgbClr val="FF0000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CA500E61-32DE-45FC-0341-46EEE1A4EEAF}"/>
              </a:ext>
            </a:extLst>
          </p:cNvPr>
          <p:cNvSpPr/>
          <p:nvPr/>
        </p:nvSpPr>
        <p:spPr>
          <a:xfrm>
            <a:off x="527702" y="8004278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3600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A52BD1-9DC5-5B75-A574-CE0B285AB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195134"/>
              </p:ext>
            </p:extLst>
          </p:nvPr>
        </p:nvGraphicFramePr>
        <p:xfrm>
          <a:off x="304800" y="234197"/>
          <a:ext cx="17713960" cy="9815345"/>
        </p:xfrm>
        <a:graphic>
          <a:graphicData uri="http://schemas.openxmlformats.org/drawingml/2006/table">
            <a:tbl>
              <a:tblPr firstRow="1" firstCol="1" bandRow="1"/>
              <a:tblGrid>
                <a:gridCol w="2397760">
                  <a:extLst>
                    <a:ext uri="{9D8B030D-6E8A-4147-A177-3AD203B41FA5}">
                      <a16:colId xmlns:a16="http://schemas.microsoft.com/office/drawing/2014/main" val="200589755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3064787222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486366243"/>
                    </a:ext>
                  </a:extLst>
                </a:gridCol>
              </a:tblGrid>
              <a:tr h="870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 dirty="0"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VN" sz="3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VN" sz="3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VN" sz="3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328247"/>
                  </a:ext>
                </a:extLst>
              </a:tr>
              <a:tr h="526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BASIC</a:t>
                      </a:r>
                      <a:endParaRPr lang="en-V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[trợ động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VN" sz="3200" b="1" kern="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 tobe]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71500" marR="0" lvl="0" indent="-5715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[ĐTKK]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 you often play sports?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Yes, I do. [Nội dung đáp án].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Yes,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[trợ động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VN" sz="3200" b="1" kern="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 tobe]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[ĐTKK]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VN" sz="3200" b="1" kern="10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 you like reading?</a:t>
                      </a:r>
                    </a:p>
                    <a:p>
                      <a:pPr marL="0" lvl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None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No, I don’t. [Nội dung đáp án].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No,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67177"/>
                  </a:ext>
                </a:extLst>
              </a:tr>
              <a:tr h="3682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UPGRADE</a:t>
                      </a:r>
                      <a:endParaRPr lang="en-V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Certainly.</a:t>
                      </a:r>
                      <a:endParaRPr lang="en-VN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Sure.</a:t>
                      </a: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Have you ever traveled abroad?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Sure.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vi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ot really.</a:t>
                      </a:r>
                      <a:endParaRPr lang="en-VN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don’t think so.</a:t>
                      </a:r>
                      <a:endParaRPr lang="en-VN" sz="3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Should children use social media?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Not really.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53519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21A172-A721-F183-A4C2-4C5C7D7C3121}"/>
              </a:ext>
            </a:extLst>
          </p:cNvPr>
          <p:cNvSpPr/>
          <p:nvPr/>
        </p:nvSpPr>
        <p:spPr>
          <a:xfrm>
            <a:off x="2667000" y="5600700"/>
            <a:ext cx="55626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C34E5D-BEA6-31E0-8691-9EED23576FC5}"/>
              </a:ext>
            </a:extLst>
          </p:cNvPr>
          <p:cNvSpPr/>
          <p:nvPr/>
        </p:nvSpPr>
        <p:spPr>
          <a:xfrm>
            <a:off x="9982200" y="5524500"/>
            <a:ext cx="5410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C32F2A-9E59-C4DD-4A51-0DD25820023C}"/>
              </a:ext>
            </a:extLst>
          </p:cNvPr>
          <p:cNvSpPr/>
          <p:nvPr/>
        </p:nvSpPr>
        <p:spPr>
          <a:xfrm>
            <a:off x="2667000" y="9105900"/>
            <a:ext cx="5791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D12428-3615-156F-4350-80D4DC3B3E1C}"/>
              </a:ext>
            </a:extLst>
          </p:cNvPr>
          <p:cNvSpPr/>
          <p:nvPr/>
        </p:nvSpPr>
        <p:spPr>
          <a:xfrm>
            <a:off x="9982200" y="9105900"/>
            <a:ext cx="6934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/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/>
          <p:cNvSpPr txBox="1"/>
          <p:nvPr/>
        </p:nvSpPr>
        <p:spPr>
          <a:xfrm>
            <a:off x="1455985" y="3604617"/>
            <a:ext cx="15376023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YES/NO THƯỜNG GẶP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8187E-12BE-B961-E3CC-1C290B9E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64C3FB5-F2CF-C236-F54A-83834C66EF5C}"/>
              </a:ext>
            </a:extLst>
          </p:cNvPr>
          <p:cNvGrpSpPr/>
          <p:nvPr/>
        </p:nvGrpSpPr>
        <p:grpSpPr>
          <a:xfrm>
            <a:off x="304800" y="103592"/>
            <a:ext cx="17678400" cy="9840507"/>
            <a:chOff x="0" y="-47625"/>
            <a:chExt cx="4274726" cy="1405798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9300106-56FE-7432-A110-011B27204A40}"/>
                </a:ext>
              </a:extLst>
            </p:cNvPr>
            <p:cNvSpPr/>
            <p:nvPr/>
          </p:nvSpPr>
          <p:spPr>
            <a:xfrm>
              <a:off x="0" y="-13438"/>
              <a:ext cx="4274726" cy="1371611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F6AB408B-DD0D-9B11-85B4-875B845CCF7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16A75BD7-C14E-4AD9-BB4D-0D031ED19C7A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97C253-9499-D64B-9363-0EAF599CC497}"/>
              </a:ext>
            </a:extLst>
          </p:cNvPr>
          <p:cNvSpPr txBox="1"/>
          <p:nvPr/>
        </p:nvSpPr>
        <p:spPr>
          <a:xfrm>
            <a:off x="800100" y="1057366"/>
            <a:ext cx="16687800" cy="81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1. Do you often 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5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movies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for a walk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0BA25168-EC5B-3CD7-939C-5FB1C791EA16}"/>
              </a:ext>
            </a:extLst>
          </p:cNvPr>
          <p:cNvSpPr/>
          <p:nvPr/>
        </p:nvSpPr>
        <p:spPr>
          <a:xfrm>
            <a:off x="228600" y="7732370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BB8DE884-7ED0-302E-6B1D-80BD37C261CE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4D256D07-E6BC-BC1A-2DBD-4EA6205FB545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0556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874C4-4258-38BE-27DF-34252D5F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3794872-381D-DB59-10CC-44D7158F0B66}"/>
              </a:ext>
            </a:extLst>
          </p:cNvPr>
          <p:cNvGrpSpPr/>
          <p:nvPr/>
        </p:nvGrpSpPr>
        <p:grpSpPr>
          <a:xfrm>
            <a:off x="304800" y="2667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EB7E4B8-237D-AE73-4798-79F8F123927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92EEFE1-C787-2AB0-FCB8-8206F05ABC4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59B9F9B3-E137-689B-747A-8E2EFD6DFD0F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83AFCAF4-B53B-FD6B-23A2-6B7831EFBEB1}"/>
              </a:ext>
            </a:extLst>
          </p:cNvPr>
          <p:cNvSpPr/>
          <p:nvPr/>
        </p:nvSpPr>
        <p:spPr>
          <a:xfrm>
            <a:off x="228600" y="7732370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F74E24BF-B524-E4A0-AC99-948A535ADB04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12F17CF6-8091-ED3A-D65F-D39C83B1BF18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18905C-CD1B-9A75-7A48-1BE0F1664F91}"/>
              </a:ext>
            </a:extLst>
          </p:cNvPr>
          <p:cNvSpPr txBox="1"/>
          <p:nvPr/>
        </p:nvSpPr>
        <p:spPr>
          <a:xfrm>
            <a:off x="800100" y="2337164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often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I have free time because it helps me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1410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41164" y="8512358"/>
            <a:ext cx="2206327" cy="2057400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9" name="Freeform 9"/>
          <p:cNvSpPr/>
          <p:nvPr/>
        </p:nvSpPr>
        <p:spPr>
          <a:xfrm>
            <a:off x="15873300" y="0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B3A40E-164C-22FF-E6F6-CE1FC3A06790}"/>
              </a:ext>
            </a:extLst>
          </p:cNvPr>
          <p:cNvSpPr txBox="1"/>
          <p:nvPr/>
        </p:nvSpPr>
        <p:spPr>
          <a:xfrm>
            <a:off x="800100" y="1829235"/>
            <a:ext cx="16687799" cy="637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4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afternoon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when I have free time because it helps me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relax after a busy day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D6AC8-7301-BBC8-4EFD-3E1F3AC0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58FE4A4-4506-5132-7209-F6F129AE6935}"/>
              </a:ext>
            </a:extLst>
          </p:cNvPr>
          <p:cNvGrpSpPr/>
          <p:nvPr/>
        </p:nvGrpSpPr>
        <p:grpSpPr>
          <a:xfrm>
            <a:off x="304800" y="266700"/>
            <a:ext cx="17678400" cy="97536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36E1D52-B71D-EDF5-A0AB-CF8CA3097AD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AFB723C-F04D-52DA-4685-A03DF410D9B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64DA7E26-1283-CC1D-A594-178727448C79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E651EB-2740-61C1-A476-A37A08DEB072}"/>
              </a:ext>
            </a:extLst>
          </p:cNvPr>
          <p:cNvSpPr txBox="1"/>
          <p:nvPr/>
        </p:nvSpPr>
        <p:spPr>
          <a:xfrm>
            <a:off x="800100" y="1057366"/>
            <a:ext cx="16687800" cy="816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800" b="1" dirty="0" err="1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 – V</a:t>
            </a:r>
            <a:r>
              <a:rPr lang="en-US" sz="4800" b="1" baseline="-25000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homework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the radio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podcasts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videos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eating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936AC346-101D-E33F-7539-5A7F56288679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13977BDF-C867-10F4-B47A-BA915C76E398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4C06A2F4-F483-9514-CA2D-EB050F364C06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42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C1295-15A4-525A-059D-31B85CA40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B70AF86-4EB5-551D-1122-F9745F0C9338}"/>
              </a:ext>
            </a:extLst>
          </p:cNvPr>
          <p:cNvGrpSpPr/>
          <p:nvPr/>
        </p:nvGrpSpPr>
        <p:grpSpPr>
          <a:xfrm>
            <a:off x="304800" y="342900"/>
            <a:ext cx="17678400" cy="96012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2A5F3B0-4467-8528-93CA-053EA5B723B6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0A3EEC0-96C3-13A5-4BD5-9F63F4FAE62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E9BAAB17-BBA2-6E2F-B0B6-D7D19D5E07B2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EDD059B0-288D-E2F1-8A64-9E216ED0E83A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AA7DFA13-50C1-4910-5216-532C0526D16E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6CDBEFA4-5DC6-46B6-0D96-EAD15450597E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0537F2-5979-0577-DC16-65B76CA0BD93}"/>
              </a:ext>
            </a:extLst>
          </p:cNvPr>
          <p:cNvSpPr txBox="1"/>
          <p:nvPr/>
        </p:nvSpPr>
        <p:spPr>
          <a:xfrm>
            <a:off x="800100" y="1817921"/>
            <a:ext cx="16687800" cy="6312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I don’t often </a:t>
            </a: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5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 – V</a:t>
            </a:r>
            <a:r>
              <a:rPr lang="en-US" sz="5500" b="1" baseline="-25000" noProof="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55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 – V</a:t>
            </a:r>
            <a:r>
              <a:rPr lang="en-US" sz="5500" b="1" baseline="-250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it’s hard for me to focus. I prefer to do one thing at a time to </a:t>
            </a:r>
            <a:r>
              <a:rPr lang="en-US" sz="55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focus better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it better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5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it more carefully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332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B4622-A3EF-19C0-546B-C073C24C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C981A1C-C3EE-0A81-7D21-D6B36637F495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0E974F3-9D76-702A-FC3B-B51DF9159D1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9E7C782-E300-8225-EC0B-B329C7DE56F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CDB307D-063C-390D-23D5-C6C6086FBB3A}"/>
              </a:ext>
            </a:extLst>
          </p:cNvPr>
          <p:cNvSpPr/>
          <p:nvPr/>
        </p:nvSpPr>
        <p:spPr>
          <a:xfrm>
            <a:off x="-341164" y="8512358"/>
            <a:ext cx="2206327" cy="2057400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9502069-5B7E-61F6-011C-C11341F35734}"/>
              </a:ext>
            </a:extLst>
          </p:cNvPr>
          <p:cNvSpPr/>
          <p:nvPr/>
        </p:nvSpPr>
        <p:spPr>
          <a:xfrm>
            <a:off x="15873300" y="0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2F3D52-2DEC-D4AD-5987-3B5A12F148C5}"/>
              </a:ext>
            </a:extLst>
          </p:cNvPr>
          <p:cNvSpPr txBox="1"/>
          <p:nvPr/>
        </p:nvSpPr>
        <p:spPr>
          <a:xfrm>
            <a:off x="800100" y="1255168"/>
            <a:ext cx="16687799" cy="7434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"/>
            </a:pPr>
            <a:r>
              <a:rPr lang="en-US" sz="5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often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lang="en-US" sz="5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your homework</a:t>
            </a:r>
            <a:r>
              <a:rPr lang="en-US" sz="5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8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8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</a:t>
            </a:r>
            <a:r>
              <a:rPr lang="en-US" sz="5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don’t often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lang="en-US" sz="5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my homework </a:t>
            </a:r>
            <a:r>
              <a:rPr lang="en-US" sz="5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it’s hard for me to focus. I prefer to do one thing at a time so I can do it better.</a:t>
            </a:r>
          </a:p>
        </p:txBody>
      </p:sp>
    </p:spTree>
    <p:extLst>
      <p:ext uri="{BB962C8B-B14F-4D97-AF65-F5344CB8AC3E}">
        <p14:creationId xmlns:p14="http://schemas.microsoft.com/office/powerpoint/2010/main" val="164544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6F3F0-2A84-DD24-EC62-C70FDCD4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C89BAAEC-7E5E-2A07-6C03-973CF83FD6E4}"/>
              </a:ext>
            </a:extLst>
          </p:cNvPr>
          <p:cNvGrpSpPr/>
          <p:nvPr/>
        </p:nvGrpSpPr>
        <p:grpSpPr>
          <a:xfrm>
            <a:off x="304800" y="266700"/>
            <a:ext cx="17678400" cy="97536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C72FA3C-1104-94E2-0FCB-2AE90A93AE4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4B13203-1009-E478-C812-C136A7229DF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E90D3F30-9548-D460-85E3-262D21495BB4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834625F8-B3E6-C568-0163-EFDDCD0D8022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ECE4C6D2-DEA5-4CB5-3282-68FC3A42DF1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640CE5F9-74F2-7B9A-E72B-953C57783411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2A6F23-32E2-ADEE-6421-C532223FCC15}"/>
              </a:ext>
            </a:extLst>
          </p:cNvPr>
          <p:cNvSpPr txBox="1"/>
          <p:nvPr/>
        </p:nvSpPr>
        <p:spPr>
          <a:xfrm>
            <a:off x="800100" y="1057366"/>
            <a:ext cx="16687800" cy="825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48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800" b="1">
                <a:solidFill>
                  <a:schemeClr val="accent2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like/love/enjoy </a:t>
            </a:r>
            <a:r>
              <a:rPr lang="en-US" sz="48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8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8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8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traveling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love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musical instruments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hanging out with your friends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love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volunteer work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6350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74A05-1F20-70BC-631C-5839D276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DF1BE84-467F-BF43-79AC-0F72C06CEECA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582813A-C7A9-0084-5335-BBB677B2E423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9569FB8-4380-06F8-0D19-B996BC8E50B0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F5D4011E-A45E-EC9E-A9A9-C8CCAA21A596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A858D160-8A51-C0F9-FA86-1081894CF583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4FD40CAC-E0BE-4E4B-8182-84AECBA8986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4286DCDA-8FF0-8FA8-68EB-3F2C95656059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5E06B6-0926-1A95-F549-21670E4887EF}"/>
              </a:ext>
            </a:extLst>
          </p:cNvPr>
          <p:cNvSpPr txBox="1"/>
          <p:nvPr/>
        </p:nvSpPr>
        <p:spPr>
          <a:xfrm>
            <a:off x="733227" y="1855519"/>
            <a:ext cx="16687800" cy="6312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do. I’m really into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it’s very 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helps me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makes me feel 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5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05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15666-30F4-83DA-F807-8324C98E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6FE07A0-C1B4-8EC1-947F-3EF2F773A755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E3DD078-1BC5-CEAF-C832-4464310450C8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B66CC7E-41AE-6681-1100-91A114F6E01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7FF3DBE-4EFA-90A6-5E53-EC1E67FFAD7B}"/>
              </a:ext>
            </a:extLst>
          </p:cNvPr>
          <p:cNvSpPr/>
          <p:nvPr/>
        </p:nvSpPr>
        <p:spPr>
          <a:xfrm>
            <a:off x="-341164" y="8512358"/>
            <a:ext cx="2206327" cy="2057400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D206B37-418A-1FFF-8CCF-841EC17C9FB1}"/>
              </a:ext>
            </a:extLst>
          </p:cNvPr>
          <p:cNvSpPr/>
          <p:nvPr/>
        </p:nvSpPr>
        <p:spPr>
          <a:xfrm>
            <a:off x="15873300" y="0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9BF398-69FE-566E-336F-0483A421942D}"/>
              </a:ext>
            </a:extLst>
          </p:cNvPr>
          <p:cNvSpPr txBox="1"/>
          <p:nvPr/>
        </p:nvSpPr>
        <p:spPr>
          <a:xfrm>
            <a:off x="800100" y="1832249"/>
            <a:ext cx="16687799" cy="637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like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8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do. I’m really into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it’s very </a:t>
            </a:r>
            <a:r>
              <a:rPr lang="en-US" sz="50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interesting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helps me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reduce stress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makes me feel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relaxed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2111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CB4DA-7624-1D11-A0E0-DCF74A8A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CE3C1F3-D908-AEC2-7A2F-6732FEE5963D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4C20EB1F-CC67-06DB-7A3E-D5CE1AB1C38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29BDA4B-1A67-89C4-4B50-4C0B7BBD541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61F70293-1B0B-F77C-2D5B-CE42FC30447F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80ABAAE6-25F5-1AAC-EF31-958F30BD4723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011ABBE5-7BEC-EB0A-0740-FC7DC6FBAD84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C1FD1941-C215-A098-74AD-6C4BA2092687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0A6C61-8745-30A4-9FC7-57D81B80FC1F}"/>
              </a:ext>
            </a:extLst>
          </p:cNvPr>
          <p:cNvSpPr txBox="1"/>
          <p:nvPr/>
        </p:nvSpPr>
        <p:spPr>
          <a:xfrm>
            <a:off x="800100" y="16477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4. Did you often 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5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4500">
              <a:highlight>
                <a:srgbClr val="FFFF00"/>
              </a:highlight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outside 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TV 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 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ride a bike 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</p:txBody>
      </p:sp>
    </p:spTree>
    <p:extLst>
      <p:ext uri="{BB962C8B-B14F-4D97-AF65-F5344CB8AC3E}">
        <p14:creationId xmlns:p14="http://schemas.microsoft.com/office/powerpoint/2010/main" val="15820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6847D-54A4-2B58-DF83-238E4D0D5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952EC305-E65B-71DF-F667-268248C982B0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DC6031F-A04E-02F0-66BC-B2B582F8EB5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468550B-6908-7C48-BF4B-565A0B4B525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2F0E2219-0BDE-E55B-BC42-AB1F7E33B25A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7CE30682-3453-8532-C922-15F7216171BC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BA87A6A2-D00D-2479-E409-C1E87A45D2C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0F5D6965-34AC-2E5B-DF42-C7D472C68815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0E4BC-DCED-ED97-3CC7-507F0E0D54C6}"/>
              </a:ext>
            </a:extLst>
          </p:cNvPr>
          <p:cNvSpPr txBox="1"/>
          <p:nvPr/>
        </p:nvSpPr>
        <p:spPr>
          <a:xfrm>
            <a:off x="800100" y="1857357"/>
            <a:ext cx="16687800" cy="6312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did. I used to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day 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I was a child because it was 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was a good way for me to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616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945D9-0680-48DF-D47E-CC1EC443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DC1B404-6023-4DF2-BA81-461763409254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54CC92-0B16-74C0-179A-C34F5F5A2CD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8D89A0A-DE31-DDE9-F398-8A15F8621F0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59D104B-E269-B05F-2F26-A7B653276DAC}"/>
              </a:ext>
            </a:extLst>
          </p:cNvPr>
          <p:cNvSpPr/>
          <p:nvPr/>
        </p:nvSpPr>
        <p:spPr>
          <a:xfrm>
            <a:off x="-341164" y="8512358"/>
            <a:ext cx="2206327" cy="2057400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0229085-4589-489F-820D-79C57AA3F246}"/>
              </a:ext>
            </a:extLst>
          </p:cNvPr>
          <p:cNvSpPr/>
          <p:nvPr/>
        </p:nvSpPr>
        <p:spPr>
          <a:xfrm>
            <a:off x="15873300" y="0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35DF40-67E4-4F05-1B5F-9F1913E22BE8}"/>
              </a:ext>
            </a:extLst>
          </p:cNvPr>
          <p:cNvSpPr txBox="1"/>
          <p:nvPr/>
        </p:nvSpPr>
        <p:spPr>
          <a:xfrm>
            <a:off x="800100" y="1426457"/>
            <a:ext cx="16687799" cy="7434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cartoons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Yes, I did. I used 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cartoons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day when I was a child because it was very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entertaining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was a good way for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 my free time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601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E995A-4850-14D1-2ECA-D417041A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463A51B-9426-BDDF-BC6E-D27B9821095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3D30DA5-E8CF-9DB2-5AE8-371B0F9C9D9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492EDAB-FA35-9E5B-3C6A-62DE7EEF30F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6BC3102-3431-28F4-A6A7-7827D947AE9D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0F2E6F3C-5429-661C-2D8B-C5EEF5D1F8B8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7B903934-F030-5413-4151-AF7DF6A458A5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3266170E-3483-B0DB-5D69-3039C99FE3AB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4CB459-3854-1BE6-C9E1-088B330E8517}"/>
              </a:ext>
            </a:extLst>
          </p:cNvPr>
          <p:cNvSpPr txBox="1"/>
          <p:nvPr/>
        </p:nvSpPr>
        <p:spPr>
          <a:xfrm>
            <a:off x="800100" y="16477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noProof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Are</a:t>
            </a:r>
            <a:r>
              <a:rPr kumimoji="0" lang="en-US" sz="45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good at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5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speaking English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sports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computers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971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82FF6-4146-F37E-9394-94719919C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C8B5541-7020-6541-6C6C-C71D85F8526E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48A38D2-35F8-D4D1-1519-0D78D3AC617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FE9907E-E8F4-2BEB-9E40-522A79D5671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239F0371-EC36-DB05-542D-913FCFD76D3D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BAEF2A3E-1CB8-1BFD-A90D-A1D66E40FBBD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66B177BC-E9F0-583C-23AE-9A7AF809F127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B2573493-218C-20E3-DBB2-9123DA218283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E30572-075E-02DA-5FF6-89919F6CFBB0}"/>
              </a:ext>
            </a:extLst>
          </p:cNvPr>
          <p:cNvSpPr txBox="1"/>
          <p:nvPr/>
        </p:nvSpPr>
        <p:spPr>
          <a:xfrm>
            <a:off x="800100" y="1503772"/>
            <a:ext cx="16687800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am. I’m quite good at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practice it a lot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helps me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No, I’m not. I’m not very good at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don’t practice it much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 hope I can improve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20207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FB6AC-04BB-18FE-7CC7-D18124F5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2326CE5-3407-31F5-E2B9-F9AEDB8119ED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D192845-539C-5ABF-A5CB-6179F390E9F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E716D62-9E99-CE49-E008-3148F45ED05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D694B49-E129-3C5C-2557-B9AFD8A27B86}"/>
              </a:ext>
            </a:extLst>
          </p:cNvPr>
          <p:cNvSpPr/>
          <p:nvPr/>
        </p:nvSpPr>
        <p:spPr>
          <a:xfrm>
            <a:off x="-520896" y="8755994"/>
            <a:ext cx="2206327" cy="2057400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D1F2982-781C-35AA-E66C-02060026D029}"/>
              </a:ext>
            </a:extLst>
          </p:cNvPr>
          <p:cNvSpPr/>
          <p:nvPr/>
        </p:nvSpPr>
        <p:spPr>
          <a:xfrm>
            <a:off x="15873300" y="0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E62CB-B216-BD27-91F2-FE4D1D1D305E}"/>
              </a:ext>
            </a:extLst>
          </p:cNvPr>
          <p:cNvSpPr txBox="1"/>
          <p:nvPr/>
        </p:nvSpPr>
        <p:spPr>
          <a:xfrm>
            <a:off x="800100" y="798921"/>
            <a:ext cx="16687799" cy="8742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5000" b="1" noProof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I’m quite good at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I </a:t>
            </a:r>
            <a:r>
              <a:rPr lang="en-US" sz="50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practice it a lot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helps me </a:t>
            </a:r>
            <a:r>
              <a:rPr lang="en-US" sz="5000" b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save money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No, I’m not. I’m not very good at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I </a:t>
            </a:r>
            <a:r>
              <a:rPr lang="en-US" sz="50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don’t practice it much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 hope I can improve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12845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3432D-6346-21AE-3EF4-244F9FD4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0EE6FBB5-8DFD-3EF6-EE3B-DB5B2E3ECDBD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0134683-51CD-574D-DE7F-6D6A186E0EA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27F6A45-FE1F-CE65-33BA-B71E8D0CB91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CA4F154-24E4-7E81-354E-DA607BD4524A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D6C2AA5C-8896-4AB6-037E-76A2D6A2E47A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F70B5377-9535-B13B-8DAD-201B6C36A482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73B734A6-89F3-E8A2-B66F-8C578CDE293C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A4DD3-CAF3-3C9B-CC80-641170665368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6. Are/Is </a:t>
            </a:r>
            <a:r>
              <a:rPr lang="en-US" sz="4500" b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US" sz="4500" b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music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hobbies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soft skills 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 to you?</a:t>
            </a:r>
            <a:endParaRPr kumimoji="0" lang="en-US" sz="4500" b="1" i="1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55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93E96-DD4D-FD56-1EB5-955C3FA4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DD216595-A6E8-8807-26D3-1B2F02B747D9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25F77AF-6F91-C955-D528-B69F895F63B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4F15AAA-CA5F-53FB-9E65-174093AF2F6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4D95767E-6722-2B82-642D-4E17D4DE7D06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4966592C-730E-47B0-ADDA-1C0B18A50C3D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52827A79-2EBE-9F45-CD38-665B6561303F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DF927620-82B8-941A-1C4E-620B13C6B884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152CA5-E01D-73E1-E4BA-D92EBB8C8D9C}"/>
              </a:ext>
            </a:extLst>
          </p:cNvPr>
          <p:cNvSpPr txBox="1"/>
          <p:nvPr/>
        </p:nvSpPr>
        <p:spPr>
          <a:xfrm>
            <a:off x="809066" y="1028700"/>
            <a:ext cx="16687800" cy="835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it is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ít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very important to me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helps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It’s also a good way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Yes, they are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very important to me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they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help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They also allow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41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E8138C-72BD-5660-9791-69E76F03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8C87DEB-A69E-D899-52BE-0D6B4742516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5C19A4-7DCC-1C86-2701-C68CB4BC3B1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50693B2-14C1-4371-F840-709729F8920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248631A-9B6C-36B0-7720-FB3309EE7EB1}"/>
              </a:ext>
            </a:extLst>
          </p:cNvPr>
          <p:cNvSpPr/>
          <p:nvPr/>
        </p:nvSpPr>
        <p:spPr>
          <a:xfrm>
            <a:off x="-520896" y="8755994"/>
            <a:ext cx="2206327" cy="2057400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65FC525-9930-3AAD-285E-C51DCAB8A59D}"/>
              </a:ext>
            </a:extLst>
          </p:cNvPr>
          <p:cNvSpPr/>
          <p:nvPr/>
        </p:nvSpPr>
        <p:spPr>
          <a:xfrm>
            <a:off x="15873300" y="0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F7AD5-DFD0-89F7-7A4E-CEA75C5E6804}"/>
              </a:ext>
            </a:extLst>
          </p:cNvPr>
          <p:cNvSpPr txBox="1"/>
          <p:nvPr/>
        </p:nvSpPr>
        <p:spPr>
          <a:xfrm>
            <a:off x="800100" y="1947665"/>
            <a:ext cx="16687799" cy="6049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eating healthy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 to you?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Yes, it is.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Eating healthy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very important to me because it helps me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improve my health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is also a good way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a better life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163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62D2E-EE27-2CDB-365F-8D914759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A36F5B70-A9E0-E038-0173-2BEC809B88A2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055CB49-FB59-979D-6C4B-995E4F6BFF6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E86C527-8F56-6163-ACBD-62E8CD08581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D90A56CF-953E-1E97-44C0-69975A4C78DD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48A9B3FC-E193-D252-7E4B-8D163EBAC0BD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E8F3542E-913D-F0D6-2536-FDB550837FAB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63D89B14-76FB-A34B-D288-589B227B1812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B4743D-D352-84BC-92CE-D2C2A349E4D6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Have</a:t>
            </a:r>
            <a:r>
              <a:rPr kumimoji="0" lang="en-US" sz="45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ever </a:t>
            </a:r>
            <a:r>
              <a:rPr kumimoji="0" lang="en-US" sz="4500" b="1" i="0" u="none" strike="noStrike" kern="1200" cap="none" spc="0" normalizeH="0" noProof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kumimoji="0" lang="en-US" sz="4500" b="1" i="0" u="none" strike="noStrike" kern="1200" cap="none" spc="0" normalizeH="0" baseline="-25000" noProof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4500" b="1" baseline="30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traveled abroad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tried Vietnamese food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attended a live concert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learned to play a musical instrument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19790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CEE93-B2E8-6B6C-565C-D2CB0343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B7CD567-C7C8-D186-D7E4-3D65D6CF5553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5A03B83-B5AD-54BF-9E3B-27D17F0CD45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52D49A8-9400-39B8-7823-5B7D6B10718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9DF97F2D-4FE5-8398-D71E-B6EE645C3134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8A83769A-4D5C-98D4-BFF6-82C65F66E21A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9F0AA497-BFB9-4F85-6CB2-77591056F725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07342829-CB14-F7DF-2A7A-BFBD94A04862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A68F3B-3F7E-22F5-ADE1-C52FF1A71F18}"/>
              </a:ext>
            </a:extLst>
          </p:cNvPr>
          <p:cNvSpPr txBox="1"/>
          <p:nvPr/>
        </p:nvSpPr>
        <p:spPr>
          <a:xfrm>
            <a:off x="809066" y="1028700"/>
            <a:ext cx="16687800" cy="835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Yes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 have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5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5000" b="1" baseline="30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before, and 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 was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a/an [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trải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experience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helped me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 err="1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Actually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 haven’t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5000" b="1" baseline="30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before, but I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would like to try it in the future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 think </a:t>
            </a:r>
            <a:r>
              <a:rPr lang="en-US" sz="50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it’s very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20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7C062-760A-BBD5-40A9-3D36016BF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8784C66F-CA47-CA16-49E9-35A1A63960B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8371ADD-8595-8212-EA53-99A14803451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91000D1-3078-879E-8B01-DFC2CC1473D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B0E9EEA-65CC-1348-378A-C917DF4A884D}"/>
              </a:ext>
            </a:extLst>
          </p:cNvPr>
          <p:cNvSpPr/>
          <p:nvPr/>
        </p:nvSpPr>
        <p:spPr>
          <a:xfrm>
            <a:off x="-520896" y="8755994"/>
            <a:ext cx="2206327" cy="2057400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C6FF120-0F15-FBDC-6FE7-8D7C324818D7}"/>
              </a:ext>
            </a:extLst>
          </p:cNvPr>
          <p:cNvSpPr/>
          <p:nvPr/>
        </p:nvSpPr>
        <p:spPr>
          <a:xfrm>
            <a:off x="15873300" y="0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6FE9C-C3ED-02F9-A3A0-128B1C345E79}"/>
              </a:ext>
            </a:extLst>
          </p:cNvPr>
          <p:cNvSpPr txBox="1"/>
          <p:nvPr/>
        </p:nvSpPr>
        <p:spPr>
          <a:xfrm>
            <a:off x="800100" y="887848"/>
            <a:ext cx="16687799" cy="8511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traveled abroad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Yes, I’ve traveled abroad before, and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 was an exciting experience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helped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 new things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Actually, I haven’t traveled abroad before, but I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would like to try it in the future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 think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it’s very interesting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71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64CE-2621-FAEA-CD2E-D56379518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C22A57F-A38C-7B00-9D81-524EA572E6FE}"/>
              </a:ext>
            </a:extLst>
          </p:cNvPr>
          <p:cNvGrpSpPr/>
          <p:nvPr/>
        </p:nvGrpSpPr>
        <p:grpSpPr>
          <a:xfrm>
            <a:off x="381000" y="419100"/>
            <a:ext cx="17526000" cy="9448800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159B268-E52B-84D5-4E49-CD9EDC26312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D94FFF-8008-FEB2-561D-31F48458C77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DEAB1B0-644F-953D-9707-28575417A377}"/>
              </a:ext>
            </a:extLst>
          </p:cNvPr>
          <p:cNvSpPr/>
          <p:nvPr/>
        </p:nvSpPr>
        <p:spPr>
          <a:xfrm>
            <a:off x="16414126" y="8172594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5EAB9AF9-7414-FCBD-D980-6459C1AC7EBC}"/>
              </a:ext>
            </a:extLst>
          </p:cNvPr>
          <p:cNvSpPr/>
          <p:nvPr/>
        </p:nvSpPr>
        <p:spPr>
          <a:xfrm>
            <a:off x="527702" y="8004278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83C26-2C33-43F6-FCD3-690AA1E8849A}"/>
              </a:ext>
            </a:extLst>
          </p:cNvPr>
          <p:cNvSpPr txBox="1"/>
          <p:nvPr/>
        </p:nvSpPr>
        <p:spPr>
          <a:xfrm>
            <a:off x="1142999" y="495707"/>
            <a:ext cx="16002001" cy="864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II. CHOICE QUESTIONS</a:t>
            </a:r>
            <a:endParaRPr lang="en-VN" sz="600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"/>
            </a:pPr>
            <a:r>
              <a:rPr lang="en-US" sz="4500" b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Dấu hiệu nhận biết</a:t>
            </a:r>
            <a:endParaRPr lang="en-VN" sz="450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Trong câu hỏi sẽ có liên từ “</a:t>
            </a: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"/>
            </a:pPr>
            <a:r>
              <a:rPr lang="en-US" sz="4500" b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bước trả lời </a:t>
            </a:r>
            <a:endParaRPr lang="en-VN" sz="450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Bước 01: 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Đưa ra lựa chọn. 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Bước 02: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Giải thích lý do. </a:t>
            </a:r>
            <a:r>
              <a:rPr lang="en-VN" sz="4500" b="1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Bước 03: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Mở rộng câu trả lời. </a:t>
            </a:r>
            <a:r>
              <a:rPr lang="en-VN" sz="4500" b="1">
                <a:solidFill>
                  <a:srgbClr val="FF0000"/>
                </a:solidFill>
                <a:latin typeface="American Typewriter" panose="02090604020004020304" pitchFamily="18" charset="77"/>
              </a:rPr>
              <a:t>➝ B2+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7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2F4E-1A0E-45A6-BC14-E0AA8B6A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9E8CF63-560A-EF35-76A4-DDB41297731C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9AA8CB-6CFA-319A-E101-896F3F03D5E3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E126525-0F06-B90E-F473-B2800ADB66F4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15EDB103-EC95-05CF-A25E-A9339E4864C5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F56FA91-0E1D-08CF-503F-12C7A896555B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4CD5D7A-E346-1DDE-0964-56B8217921F3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B22D76F-40D5-F774-14C6-4BD7B4C281D2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LỰA CHỌN THƯỜNG GẶP</a:t>
            </a:r>
          </a:p>
        </p:txBody>
      </p:sp>
    </p:spTree>
    <p:extLst>
      <p:ext uri="{BB962C8B-B14F-4D97-AF65-F5344CB8AC3E}">
        <p14:creationId xmlns:p14="http://schemas.microsoft.com/office/powerpoint/2010/main" val="2238192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5E87A-6179-D28F-3B48-C07579B1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95EA8BC-DBD1-EE15-B0E6-D6F81FDC914C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6785493-ECC8-90FB-9823-F5DC79A544C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8EA1B7E-FB3B-EDD5-3F53-640E9E42526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F86B2D3-FEF5-E79F-F0CD-5AEC6DE154DF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6606DB59-B203-88A3-5BA9-4A7A86306311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940EBF0B-F79B-F7BC-5776-B527C0F35895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045F45EB-0487-A568-6C3F-8730ED064BBD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A5950-AA00-4386-632E-885309551E57}"/>
              </a:ext>
            </a:extLst>
          </p:cNvPr>
          <p:cNvSpPr txBox="1"/>
          <p:nvPr/>
        </p:nvSpPr>
        <p:spPr>
          <a:xfrm>
            <a:off x="800100" y="2239079"/>
            <a:ext cx="16687800" cy="579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1. ... 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prefer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Would you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rather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VN" sz="4500" i="1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do you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 more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more important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347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F8513-4BAE-E7C3-AFDD-EBA8D544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9EB7312-A3A6-EFEF-8917-320C626CEFA9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B5A3AB9-8686-A378-BBE1-F768284F10B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86EE628-2A8A-3104-B616-3C39A073E6A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9C42595-2E57-2E5A-BAA5-ED998B674CFB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A45DEE59-6B31-23C2-4749-62EA681056D9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3F12AA1F-FBA3-F4D4-6EFA-3744C533723F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5251FD46-FA36-B662-CABF-A0D418D5F0BC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5A85AB-7988-375B-B93C-BF264C13C407}"/>
              </a:ext>
            </a:extLst>
          </p:cNvPr>
          <p:cNvSpPr txBox="1"/>
          <p:nvPr/>
        </p:nvSpPr>
        <p:spPr>
          <a:xfrm>
            <a:off x="821868" y="739781"/>
            <a:ext cx="16687800" cy="873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b="1" kern="10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✅ PHƯƠNG ÁN 1 – CHỌN 1 TRONG 2</a:t>
            </a:r>
            <a:endParaRPr lang="en-VN" sz="4400" kern="100">
              <a:solidFill>
                <a:srgbClr val="FF40FF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VN" sz="4400" b="1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 </a:t>
            </a:r>
            <a:r>
              <a:rPr lang="vi-VN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prefer </a:t>
            </a:r>
            <a:r>
              <a:rPr lang="vi-VN" sz="4400" b="1" kern="1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[lựa chọn – noun/V</a:t>
            </a:r>
            <a:r>
              <a:rPr lang="vi-VN" sz="4400" b="1" kern="100" baseline="-250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4400" b="1" kern="1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4400" kern="1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it’s more </a:t>
            </a:r>
            <a:r>
              <a:rPr lang="vi-VN" sz="4400" b="1" kern="10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lựa chọn] </a:t>
            </a:r>
            <a:r>
              <a:rPr lang="vi-VN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helps me </a:t>
            </a:r>
            <a:r>
              <a:rPr lang="vi-VN" sz="4400" b="1" kern="10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]</a:t>
            </a:r>
            <a:r>
              <a:rPr lang="vi-VN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also makes me feel </a:t>
            </a:r>
            <a:r>
              <a:rPr lang="vi-VN" sz="4400" b="1" kern="10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cảm xúc]</a:t>
            </a:r>
            <a:r>
              <a:rPr lang="vi-VN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en-VN" sz="4400" kern="1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b="1" kern="10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✅ PHƯƠNG ÁN 2 – CẢ HAI ĐỀU QUAN TRỌNG </a:t>
            </a:r>
            <a:endParaRPr lang="en-VN" sz="4400" kern="100">
              <a:solidFill>
                <a:srgbClr val="FF40FF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VN" sz="4400" b="1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It’s hard to choose because </a:t>
            </a:r>
            <a:r>
              <a:rPr lang="en-US" sz="4400" b="1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both are important</a:t>
            </a:r>
            <a:r>
              <a:rPr lang="en-US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  <a:r>
              <a:rPr lang="en-US" sz="4400" b="1" kern="10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[A]</a:t>
            </a:r>
            <a:r>
              <a:rPr lang="en-US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helps me </a:t>
            </a:r>
            <a:r>
              <a:rPr lang="en-US" sz="4400" b="1" kern="10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của A]</a:t>
            </a:r>
            <a:r>
              <a:rPr lang="en-US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while </a:t>
            </a:r>
            <a:r>
              <a:rPr lang="en-US" sz="4400" b="1" kern="10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[B]</a:t>
            </a:r>
            <a:r>
              <a:rPr lang="en-US" sz="4400" kern="10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allows me to </a:t>
            </a:r>
            <a:r>
              <a:rPr lang="en-US" sz="4400" b="1" kern="10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của B]</a:t>
            </a:r>
            <a:r>
              <a:rPr lang="en-US" sz="44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en-VN" sz="4400" kern="1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35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A27A0-9426-F68E-41BF-6DF8F15E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48D953B-C2E8-7FF4-2030-5882596DBFB9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C007538-0C86-D8E1-1754-7A06D91E17A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4B292AE-8357-B47B-EA1E-0F6ED3C63FC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05DE2A8-68B8-47AD-376D-DE5105607968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407F12B-CEA6-7696-C1C6-CB9BF848A14F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D75A7-CF52-4924-86AC-C10493F3E717}"/>
              </a:ext>
            </a:extLst>
          </p:cNvPr>
          <p:cNvSpPr txBox="1"/>
          <p:nvPr/>
        </p:nvSpPr>
        <p:spPr>
          <a:xfrm>
            <a:off x="800100" y="1056716"/>
            <a:ext cx="16687799" cy="783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5000" b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lang="en-VN" sz="500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prefer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at home </a:t>
            </a: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library</a:t>
            </a: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>
                <a:latin typeface="American Typewriter" panose="02090604020004020304" pitchFamily="18" charset="77"/>
              </a:rPr>
              <a:t>I prefer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</a:rPr>
              <a:t>studying at home</a:t>
            </a:r>
            <a:r>
              <a:rPr lang="en-US" sz="4500">
                <a:latin typeface="American Typewriter" panose="02090604020004020304" pitchFamily="18" charset="77"/>
              </a:rPr>
              <a:t> because it’s more </a:t>
            </a:r>
            <a:r>
              <a:rPr lang="en-US" sz="4500" b="1">
                <a:solidFill>
                  <a:schemeClr val="accent6"/>
                </a:solidFill>
                <a:latin typeface="American Typewriter" panose="02090604020004020304" pitchFamily="18" charset="77"/>
              </a:rPr>
              <a:t>convenient</a:t>
            </a:r>
            <a:r>
              <a:rPr lang="en-US" sz="4500">
                <a:latin typeface="American Typewriter" panose="02090604020004020304" pitchFamily="18" charset="77"/>
              </a:rPr>
              <a:t> and helps me </a:t>
            </a:r>
            <a:r>
              <a:rPr lang="en-US" sz="4500" b="1">
                <a:solidFill>
                  <a:srgbClr val="7030A0"/>
                </a:solidFill>
                <a:latin typeface="American Typewriter" panose="02090604020004020304" pitchFamily="18" charset="77"/>
              </a:rPr>
              <a:t>save time</a:t>
            </a:r>
            <a:r>
              <a:rPr lang="en-US" sz="4500">
                <a:latin typeface="American Typewriter" panose="02090604020004020304" pitchFamily="18" charset="77"/>
              </a:rPr>
              <a:t>. It also makes me feel </a:t>
            </a:r>
            <a:r>
              <a:rPr lang="en-US" sz="4500" b="1">
                <a:solidFill>
                  <a:srgbClr val="00B050"/>
                </a:solidFill>
                <a:latin typeface="American Typewriter" panose="02090604020004020304" pitchFamily="18" charset="77"/>
              </a:rPr>
              <a:t>comfortable</a:t>
            </a:r>
            <a:r>
              <a:rPr lang="en-US" sz="4500">
                <a:latin typeface="American Typewriter" panose="02090604020004020304" pitchFamily="18" charset="77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It’s hard to choose because </a:t>
            </a: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both are important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4500" b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at home 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helps me </a:t>
            </a:r>
            <a:r>
              <a:rPr lang="en-US" sz="4500" b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save time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while </a:t>
            </a:r>
            <a:r>
              <a:rPr lang="en-US" sz="4500" b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in the library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allows me to </a:t>
            </a:r>
            <a:r>
              <a:rPr lang="en-US" sz="4500" b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focus better</a:t>
            </a:r>
            <a:r>
              <a:rPr lang="en-US" sz="45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VN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69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5990-426B-78E2-35A3-152B5A06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56A26A45-99E5-CBE0-E266-324830256A5D}"/>
              </a:ext>
            </a:extLst>
          </p:cNvPr>
          <p:cNvGrpSpPr/>
          <p:nvPr/>
        </p:nvGrpSpPr>
        <p:grpSpPr>
          <a:xfrm>
            <a:off x="380999" y="419100"/>
            <a:ext cx="17526001" cy="9448799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9FF66C-2897-32ED-D1B8-D05FBFF6761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CA50E9C-77C8-5D24-8D52-C3733B7AA19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CE55970-6F2A-E06C-73B6-7CF1E5730726}"/>
              </a:ext>
            </a:extLst>
          </p:cNvPr>
          <p:cNvSpPr/>
          <p:nvPr/>
        </p:nvSpPr>
        <p:spPr>
          <a:xfrm>
            <a:off x="16414126" y="8172594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B30B4CF6-2CB9-008B-C3BF-99AA639A98CB}"/>
              </a:ext>
            </a:extLst>
          </p:cNvPr>
          <p:cNvSpPr/>
          <p:nvPr/>
        </p:nvSpPr>
        <p:spPr>
          <a:xfrm>
            <a:off x="527702" y="8004278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E8807-CE9F-3705-8CC1-5C615869730A}"/>
              </a:ext>
            </a:extLst>
          </p:cNvPr>
          <p:cNvSpPr txBox="1"/>
          <p:nvPr/>
        </p:nvSpPr>
        <p:spPr>
          <a:xfrm>
            <a:off x="1142999" y="595753"/>
            <a:ext cx="16002001" cy="8640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rgbClr val="4BACC6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III. WH-QUESTIONS</a:t>
            </a:r>
            <a:endParaRPr kumimoji="0" lang="en-VN" sz="6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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Dấu hiệu nhận biết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kumimoji="0" lang="en-US" sz="4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vi-VN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 hỏi bắt đầu bằng từ để hỏi như: </a:t>
            </a:r>
            <a:r>
              <a:rPr lang="vi-VN" sz="45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vi-VN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r>
              <a:rPr lang="vi-VN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vi-VN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vi-VN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vi-VN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lang="vi-VN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…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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bước trả lời 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 01: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Trả lời nội dung câu hỏi. 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 02:</a:t>
            </a:r>
            <a:r>
              <a:rPr kumimoji="0" lang="en-US" sz="4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Thêm</a:t>
            </a:r>
            <a:r>
              <a:rPr kumimoji="0" lang="en-US" sz="45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thông tin</a:t>
            </a:r>
            <a:r>
              <a:rPr kumimoji="0" lang="en-US" sz="4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500" b="1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4500" b="1" noProof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 03: </a:t>
            </a:r>
            <a:r>
              <a:rPr lang="en-US" sz="4500" noProof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 rộng đáp án. </a:t>
            </a:r>
            <a:r>
              <a:rPr lang="en-VN" sz="4500" b="1">
                <a:solidFill>
                  <a:srgbClr val="FF0000"/>
                </a:solidFill>
                <a:latin typeface="American Typewriter" panose="02090604020004020304" pitchFamily="18" charset="77"/>
              </a:rPr>
              <a:t>➝ B2+</a:t>
            </a:r>
            <a:endParaRPr lang="en-US" sz="450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D8EA-4747-2291-C49C-35573807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CDAC255-2981-3FC9-3C8E-535D893726F1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1AE4AFF-2CE9-7BD2-6808-2A61EF40CEB1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923F92-B3E8-ECD8-DA65-AF5E9575BDE5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9BA6D226-8235-B201-5AAF-57DC3C52A6F1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3249C44-D005-B2E1-808B-E982A908DEB1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DB156BE-CAF9-B8EB-54A6-CE6235F89153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F96BC72-A56B-386C-C543-CE22A82442EF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THÔNG TIN THƯỜNG GẶP</a:t>
            </a:r>
          </a:p>
        </p:txBody>
      </p:sp>
    </p:spTree>
    <p:extLst>
      <p:ext uri="{BB962C8B-B14F-4D97-AF65-F5344CB8AC3E}">
        <p14:creationId xmlns:p14="http://schemas.microsoft.com/office/powerpoint/2010/main" val="38903472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3F1F-B6B0-745A-B9D6-1DEB3DF7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33A780F-256D-CFB7-EA32-219F6573A894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D5D1184-D832-8915-60C3-A1F831537F6E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5BF05EB-A498-3E6C-5D5B-89C1F901E708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F6851BD5-F2FB-68E7-295E-8B82459ED195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E99CB9F-8873-B7A6-7B48-B3631F262E85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9C68C58-770E-2025-631E-6985574B12B6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AECD792-901C-95B9-1A9F-AD34AD16D19C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856468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2CF6C-351D-FB9A-3F85-F7F498BF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A33551B4-2A97-E3BB-F3AC-A32F1F49F39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DDB0611-6505-7809-B86F-F30A5A081F7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7F4D0BE-C85D-29A2-636D-E962391250E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D7734AD5-FB2B-C69F-F7A2-0BA0FB5C4CFC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123995A9-7CC7-AE3D-6BCF-85238EA75B3E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BB3C8036-61DA-C9ED-7DBB-4F23F2B78B7E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B4376B17-0302-A353-D9AF-A11D6AF62F98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041A8-3D2B-C714-8DF7-EE3167155AA5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VN" sz="4500" b="1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</a:t>
            </a: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en-VN" sz="4500" b="1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 do you often do</a:t>
            </a:r>
            <a:r>
              <a:rPr lang="en-VN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VN" sz="4500" b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[thời gian]</a:t>
            </a:r>
            <a:r>
              <a:rPr lang="en-VN" sz="4500" b="1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4500" b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in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your free time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 weekends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after school</a:t>
            </a:r>
            <a:r>
              <a:rPr lang="en-US" sz="4500" b="1" i="1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2301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753495-6617-7495-3A4C-0989F917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DF51AB1-31B7-DDB2-878E-B4E5AFD1CD2D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D517D9E-753A-1138-D6A0-3E018DE11923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8D969F0-6FBA-A8B3-61C3-5FA193255AE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6BF7632D-E273-EB8F-B980-624C7E700273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72AA8CC9-1626-93A9-0333-9D7018398881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EBB749CB-7BB0-A57B-0ED2-7E7EBC8D1BEA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CEC54802-A97C-0F10-4550-1447791B299A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60536A-658F-1097-923C-47555057A7C3}"/>
              </a:ext>
            </a:extLst>
          </p:cNvPr>
          <p:cNvSpPr txBox="1"/>
          <p:nvPr/>
        </p:nvSpPr>
        <p:spPr>
          <a:xfrm>
            <a:off x="800100" y="1541873"/>
            <a:ext cx="16687800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usually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1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[thời gian]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helps me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Sometimes, I also </a:t>
            </a:r>
            <a:r>
              <a:rPr lang="vi-VN" sz="50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2 – V</a:t>
            </a:r>
            <a:r>
              <a:rPr lang="vi-VN" sz="5000" b="1" kern="100" baseline="-250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to </a:t>
            </a:r>
            <a:r>
              <a:rPr lang="vi-VN" sz="50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I usually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 helps me 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also makes me feel </a:t>
            </a:r>
            <a:r>
              <a:rPr lang="en-US" sz="50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cảm</a:t>
            </a:r>
            <a:r>
              <a:rPr lang="en-US" sz="50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xúc</a:t>
            </a:r>
            <a:r>
              <a:rPr lang="en-US" sz="50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VN" sz="5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66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48294-3C1B-F838-FC1D-51F5DD31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69C7230-0929-3DA8-7806-AB578F7457EF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757D598-64D6-4971-70D9-D564DE1C347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F16D8A5-AA6D-FFE8-7374-6FAB01B9899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B57A137-5AA0-6240-FA37-A1476A85672C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382015A-E589-16E6-6430-F65C902BFCD2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8A76D-07AA-EDCD-675D-315AC5B76732}"/>
              </a:ext>
            </a:extLst>
          </p:cNvPr>
          <p:cNvSpPr txBox="1"/>
          <p:nvPr/>
        </p:nvSpPr>
        <p:spPr>
          <a:xfrm>
            <a:off x="800100" y="1228005"/>
            <a:ext cx="16687799" cy="7830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</a:rPr>
              <a:t>I usually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</a:rPr>
              <a:t>watch movies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</a:rPr>
              <a:t> in the evening because it helps me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</a:rPr>
              <a:t>. Sometimes, I also </a:t>
            </a:r>
            <a:r>
              <a:rPr lang="en-US" sz="4500" b="1">
                <a:solidFill>
                  <a:srgbClr val="FF40FF"/>
                </a:solidFill>
                <a:latin typeface="American Typewriter" panose="02090604020004020304" pitchFamily="18" charset="77"/>
              </a:rPr>
              <a:t>listen to music 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</a:rPr>
              <a:t>to </a:t>
            </a:r>
            <a:r>
              <a:rPr lang="en-US" sz="4500" b="1">
                <a:solidFill>
                  <a:srgbClr val="FF40FF"/>
                </a:solidFill>
                <a:latin typeface="American Typewriter" panose="02090604020004020304" pitchFamily="18" charset="77"/>
              </a:rPr>
              <a:t>clear my mind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I usually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 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 because it helps me </a:t>
            </a:r>
            <a:r>
              <a:rPr lang="en-US" sz="45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relax after along day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also makes </a:t>
            </a:r>
            <a:r>
              <a:rPr lang="en-US" sz="4500" b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me feel happy</a:t>
            </a:r>
            <a:r>
              <a:rPr lang="en-US" sz="450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VN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8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02085-D391-0D20-52DC-249928D8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A629BE8-F2F0-70C4-EFDB-8D0D24488E4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479F9F3-B7C2-F014-78DF-4CCCD7AD924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0E8884B1-298E-6B56-03ED-3ED0B159ABA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25BD7046-11B8-D023-B8D6-C63F3B3C5B04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1F68318D-6B84-6838-CCC9-42476EDBC87A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E8ABA807-7650-8E70-7614-783A0CBB642C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96C14B5D-D40E-4438-38CA-F302DCD4CFF2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F93E6-DEC6-EE5F-F0AC-F073ADE86ECA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2. What do you often do to 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4500" b="1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improve your English skills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reduce stress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in good shape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6556309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8C5D1-D892-9BA1-DCE6-0723CE2F1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797FA79-73F7-109C-8E85-38CBBCBD936B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103DA5D-874B-E20A-B778-A53CF83FF706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3A2CE8BE-8650-3225-7BDA-6AEE7C82B15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D816B25A-E888-E17B-A786-9EFE66CB9E7B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3A9E1337-B6AD-0BB0-55C0-B63215D1B270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DC4856EB-2B92-399D-CA7A-8B468BBA3410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BA7751CF-CD1A-615D-3733-1527DCF185A8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F4C20-20C4-9CAE-E4D4-6B8949D600DE}"/>
              </a:ext>
            </a:extLst>
          </p:cNvPr>
          <p:cNvSpPr txBox="1"/>
          <p:nvPr/>
        </p:nvSpPr>
        <p:spPr>
          <a:xfrm>
            <a:off x="800100" y="2562193"/>
            <a:ext cx="16687800" cy="474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000" b="1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 </a:t>
            </a:r>
            <a:r>
              <a:rPr lang="vi-VN" sz="50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often </a:t>
            </a:r>
            <a:r>
              <a:rPr lang="vi-VN" sz="5000" b="1" kern="1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1 – V</a:t>
            </a:r>
            <a:r>
              <a:rPr lang="vi-VN" sz="5000" b="1" kern="100" baseline="-250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to </a:t>
            </a:r>
            <a:r>
              <a:rPr lang="vi-VN" sz="5000" b="1" kern="10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[mục đích] </a:t>
            </a:r>
            <a:r>
              <a:rPr lang="vi-VN" sz="50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helps me </a:t>
            </a:r>
            <a:r>
              <a:rPr lang="vi-VN" sz="5000" b="1" kern="10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</a:t>
            </a:r>
            <a:r>
              <a:rPr lang="vi-VN" sz="50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also </a:t>
            </a:r>
            <a:r>
              <a:rPr lang="vi-VN" sz="5000" b="1" kern="1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2 – V</a:t>
            </a:r>
            <a:r>
              <a:rPr lang="vi-VN" sz="5000" b="1" kern="100" baseline="-250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it’s </a:t>
            </a:r>
            <a:r>
              <a:rPr lang="vi-VN" sz="5000" b="1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simple and easy to do</a:t>
            </a:r>
            <a:r>
              <a:rPr lang="vi-VN" sz="5000" kern="10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278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F7DBD-D7DF-FE4B-C28D-D6827259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ED44688-0233-9A89-517A-BF0F69B2C08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80B24C8-E1DA-6D8A-AA20-BC6B6D53452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940B8B6-4C7A-6914-30F4-2A3109BFCD8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55E02E6-1766-4B99-B6A2-968059765AFA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C2EE63-1017-3B69-2ED6-5E8A311C9264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3BD8B-FB1C-E2EF-7AB8-03B8CDCA0D3F}"/>
              </a:ext>
            </a:extLst>
          </p:cNvPr>
          <p:cNvSpPr txBox="1"/>
          <p:nvPr/>
        </p:nvSpPr>
        <p:spPr>
          <a:xfrm>
            <a:off x="800100" y="1755381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keep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in shape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I often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</a:rPr>
              <a:t>exercise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 to </a:t>
            </a:r>
            <a:r>
              <a:rPr lang="en-US" sz="5000" b="1">
                <a:solidFill>
                  <a:srgbClr val="FF0000"/>
                </a:solidFill>
                <a:latin typeface="American Typewriter" panose="02090604020004020304" pitchFamily="18" charset="77"/>
              </a:rPr>
              <a:t>keep in shape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because it helps me </a:t>
            </a:r>
            <a:r>
              <a:rPr lang="en-US" sz="5000" b="1">
                <a:solidFill>
                  <a:schemeClr val="accent4"/>
                </a:solidFill>
                <a:latin typeface="American Typewriter" panose="02090604020004020304" pitchFamily="18" charset="77"/>
              </a:rPr>
              <a:t>burn calories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I also </a:t>
            </a:r>
            <a:r>
              <a:rPr lang="en-US" sz="5000" b="1">
                <a:solidFill>
                  <a:srgbClr val="00B050"/>
                </a:solidFill>
                <a:latin typeface="American Typewriter" panose="02090604020004020304" pitchFamily="18" charset="77"/>
              </a:rPr>
              <a:t>go for a walk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because it is </a:t>
            </a:r>
            <a:r>
              <a:rPr lang="en-US" sz="5000" b="1">
                <a:solidFill>
                  <a:prstClr val="black"/>
                </a:solidFill>
                <a:latin typeface="American Typewriter" panose="02090604020004020304" pitchFamily="18" charset="77"/>
              </a:rPr>
              <a:t>simple and easy to do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877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FEDCF-070D-0E57-47F6-AF871121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73E60BD-C6B3-53B3-5229-CA17B93A91F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754F1F0-7622-2E1A-DE6F-A72AF7F1A53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4A97D41-2F35-95D0-F217-6F9770610EA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FCE64AED-5642-BDCE-4304-0485FBC8D5E2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C48980A4-5302-55C7-2E4F-039D5A0C517F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CABACD4B-8EBE-3E20-BA2F-850E4E9412B4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455436B1-19B5-533F-DC95-F210800CA84A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43C4D-FAE5-A1DD-003C-A8E3B3814193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do you often do when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[tình huống – mệnh đề]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feel stressed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are free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feel bored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are tired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6488579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D69F2-8600-57F3-FF3A-04369C12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C0A4FD9-61F0-AE33-7CDD-4D3C239E8B23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9BE2108-0E11-3373-F651-57098BC3A96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07B5461-E7FD-6D9E-8919-2945417DB11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06B572E2-5B53-4303-EDBF-9B5D8922C2EA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DBC1746-4774-8186-C91B-F395738D5971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513ADE9E-77D0-481B-414C-E8BE2A302DC1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29A29859-EAC1-DC52-8079-5AFDB215397F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BE4A4E-E9CF-8EF3-8973-72F67F6362B2}"/>
              </a:ext>
            </a:extLst>
          </p:cNvPr>
          <p:cNvSpPr txBox="1"/>
          <p:nvPr/>
        </p:nvSpPr>
        <p:spPr>
          <a:xfrm>
            <a:off x="800100" y="1163615"/>
            <a:ext cx="16687800" cy="788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often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when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[tình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huống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helps me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It also makes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me feel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5500" b="1" kern="100" baseline="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LƯU</a:t>
            </a:r>
            <a:r>
              <a:rPr lang="vi-VN" sz="5500" b="1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Ý: </a:t>
            </a:r>
            <a:r>
              <a:rPr lang="vi-VN" sz="5500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Nếu không kịp thời gian thì chỉ cần 1 lợi ích hoặc lượt bỏ câu mô tả cảm xúc.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68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A1475-DB9A-A475-BC06-CAC7D02A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53EE6E5-920D-D9A2-8945-8BC348BCCD68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2D99AC3-0F07-B652-795A-33DA692F751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8EB6EAF-C856-E6F6-A244-E914FA38FCD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7856338E-0846-3B3B-1A78-8BD546BDF38F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01C92EC-607A-0D44-EB0C-9BD3A0AB726A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7245D-F92D-F8EE-4022-AB4A3A38B528}"/>
              </a:ext>
            </a:extLst>
          </p:cNvPr>
          <p:cNvSpPr txBox="1"/>
          <p:nvPr/>
        </p:nvSpPr>
        <p:spPr>
          <a:xfrm>
            <a:off x="800100" y="1943100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when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you fee</a:t>
            </a:r>
            <a:r>
              <a:rPr lang="en-US" sz="5000" b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 sad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listen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to music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when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feel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sad 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it helps me </a:t>
            </a:r>
            <a:r>
              <a:rPr lang="en-US" sz="5000" b="1">
                <a:solidFill>
                  <a:srgbClr val="8064A2"/>
                </a:solidFill>
                <a:latin typeface="American Typewriter" panose="02090604020004020304" pitchFamily="18" charset="77"/>
              </a:rPr>
              <a:t>clear my mind </a:t>
            </a:r>
            <a:r>
              <a:rPr lang="en-US" sz="5000">
                <a:latin typeface="American Typewriter" panose="02090604020004020304" pitchFamily="18" charset="77"/>
              </a:rPr>
              <a:t>and </a:t>
            </a:r>
            <a:r>
              <a:rPr lang="en-US" sz="5000" b="1">
                <a:solidFill>
                  <a:srgbClr val="8064A2"/>
                </a:solidFill>
                <a:latin typeface="American Typewriter" panose="02090604020004020304" pitchFamily="18" charset="77"/>
              </a:rPr>
              <a:t>improve my mood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</a:t>
            </a:r>
            <a:r>
              <a:rPr kumimoji="0" lang="en-US" sz="50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It also makes</a:t>
            </a:r>
            <a:r>
              <a:rPr kumimoji="0" lang="en-US" sz="50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me feel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relaxed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883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A37B6-99CD-CC26-1A87-E37A04D3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87B59A4-7025-C6D0-9B96-538B639C0FC8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164B1F9-73AA-57F8-CEEE-EE6946897F0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96868B0-3F3B-CEA5-DA8F-4844E67BE0B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7B489F33-3845-A9BA-FA6F-BE7B700704A6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C7F07626-BCA3-A6C4-A8E0-3FDC7FDCF254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954658C5-0042-C049-9352-CEAE45893236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EAFD8D10-D51F-0930-7220-76977D77DACD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BDEA1-61B5-A10B-4E7F-2D30AAF23DD4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kinds of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[danh từ]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do you like?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movies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music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books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sports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 </a:t>
            </a:r>
          </a:p>
        </p:txBody>
      </p:sp>
    </p:spTree>
    <p:extLst>
      <p:ext uri="{BB962C8B-B14F-4D97-AF65-F5344CB8AC3E}">
        <p14:creationId xmlns:p14="http://schemas.microsoft.com/office/powerpoint/2010/main" val="4577941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75A3C-E3FF-9CD2-2F58-A67729B05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14C737C-B1E6-AF7F-B18A-3DC101E7B3B8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CEFA28B-4FCA-A5BF-630E-839580788F4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BBD556A-CC00-F032-0AD8-5876892BBC40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577B2B62-B11B-93BA-9149-D53812FFFB60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99A524C3-F853-DBD4-7225-88955FCC9085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46BE60DC-E1CA-A4C9-CE9A-FDCB060ECA52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EEA48670-7CF3-DBBD-5DDB-C66C0268C5D5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A08ED-DDC2-FB9E-D367-934635EABB81}"/>
              </a:ext>
            </a:extLst>
          </p:cNvPr>
          <p:cNvSpPr txBox="1"/>
          <p:nvPr/>
        </p:nvSpPr>
        <p:spPr>
          <a:xfrm>
            <a:off x="800100" y="1163615"/>
            <a:ext cx="16687800" cy="788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a big fan of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[1 hoặc 2 thể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loại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they are very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từ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They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also allow me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5500" b="1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LƯU Ý: </a:t>
            </a:r>
            <a:r>
              <a:rPr lang="vi-VN" sz="5500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Nếu không kịp thời gian thì chỉ cần 1 lợi ích.</a:t>
            </a:r>
          </a:p>
        </p:txBody>
      </p:sp>
    </p:spTree>
    <p:extLst>
      <p:ext uri="{BB962C8B-B14F-4D97-AF65-F5344CB8AC3E}">
        <p14:creationId xmlns:p14="http://schemas.microsoft.com/office/powerpoint/2010/main" val="171819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72E45-E4E8-E265-B600-6517E22E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3DFEC34-1D1C-D1C5-7805-C96BB3B840A8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3EED2D5-39C5-3B3F-7723-67FC03C9A413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5E1656A-D56A-CF55-40B2-F232E07C0F2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68FC128-C7C7-A48A-41F4-E3902413E703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1FA4CCA-ED68-2BF1-B066-04AAF960FD3E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BF28E-77E8-A88F-0786-9FAF1E1002D2}"/>
              </a:ext>
            </a:extLst>
          </p:cNvPr>
          <p:cNvSpPr txBox="1"/>
          <p:nvPr/>
        </p:nvSpPr>
        <p:spPr>
          <a:xfrm>
            <a:off x="800100" y="1943100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movies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like?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I’m a big fan of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</a:rPr>
              <a:t>action and comedy movies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because they very are </a:t>
            </a:r>
            <a:r>
              <a:rPr lang="en-US" sz="5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interesting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They also allow me to </a:t>
            </a:r>
            <a:r>
              <a:rPr lang="en-US" sz="5000" b="1">
                <a:solidFill>
                  <a:schemeClr val="accent4"/>
                </a:solidFill>
                <a:latin typeface="American Typewriter" panose="02090604020004020304" pitchFamily="18" charset="77"/>
              </a:rPr>
              <a:t>relax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 and </a:t>
            </a:r>
            <a:r>
              <a:rPr lang="en-US" sz="5000" b="1">
                <a:solidFill>
                  <a:schemeClr val="accent4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234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91118-2DCA-F871-F83E-5B16DA03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67AA2CD-3F17-6A1A-4D73-24953888D67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9920656-5D39-2904-18A1-C2910389655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6FE30C6-EA25-B74D-420B-5DE39F3EF046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8626266A-11AF-2AD7-F18E-7FA72F5BFE38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57CBBA82-641A-0478-1807-17D834C4355C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621BE73F-18B2-C06C-1C98-6A4A2FA5B173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2C85394E-0115-A802-EC0D-14CB0E3F535B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ECDEC-3FD2-2E03-FB61-B3B4DB76A965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5. What is your favorite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[danh từ]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movie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sport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7762534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A90FB-8022-4E0F-6527-35B24BE6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15FB73D-3C08-E354-550D-D60C01F26DE9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A8FA9D5-62D3-2117-1470-D1A99A57CA0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C81BC44D-D489-1A49-5598-2FCEC754DC6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4C292447-3A4F-C175-4998-B0179908F33F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2390BB9C-CD92-784D-05F0-53F265221B54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540A6DC4-C411-ADBF-7722-1C3EDF3B113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02D59E29-5E99-539F-EF7F-AD4B57F563B1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E69261-0904-584C-7927-27C3CB579371}"/>
              </a:ext>
            </a:extLst>
          </p:cNvPr>
          <p:cNvSpPr txBox="1"/>
          <p:nvPr/>
        </p:nvSpPr>
        <p:spPr>
          <a:xfrm>
            <a:off x="800100" y="1910146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My favorite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[danh từ]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[thứ cụ thể]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it’s </a:t>
            </a:r>
            <a:r>
              <a:rPr lang="vi-VN" sz="5500" b="1" kern="100" dirty="0">
                <a:solidFill>
                  <a:schemeClr val="accent5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phù hợp]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helps me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makes me feel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260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5C9A3-F29E-498D-FD34-F30078F3F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A4CBE2F-589F-1C9E-4FD7-E6C8F2056883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1E92565-4DAB-FE4C-0ED9-ACC5A8454AE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D9A7745-04FF-7EDC-034B-6416F6AC2B8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DCD1A814-6A45-A493-2883-DA4940274652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676B3C3-263B-BEF4-7E38-218FDCE450DB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DB610-F0C6-40C0-8B37-D3A1D64DA29B}"/>
              </a:ext>
            </a:extLst>
          </p:cNvPr>
          <p:cNvSpPr txBox="1"/>
          <p:nvPr/>
        </p:nvSpPr>
        <p:spPr>
          <a:xfrm>
            <a:off x="838201" y="2066208"/>
            <a:ext cx="16687799" cy="6049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is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your favorite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My favorit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e </a:t>
            </a:r>
            <a:r>
              <a:rPr lang="en-US" sz="5000" b="1">
                <a:solidFill>
                  <a:srgbClr val="FF0000"/>
                </a:solidFill>
                <a:latin typeface="American Typewriter" panose="02090604020004020304" pitchFamily="18" charset="77"/>
              </a:rPr>
              <a:t>food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 is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</a:rPr>
              <a:t>fried chicken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because it’s </a:t>
            </a:r>
            <a:r>
              <a:rPr lang="en-US" sz="5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delicious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It helps me </a:t>
            </a:r>
            <a:r>
              <a:rPr lang="en-US" sz="5000" b="1">
                <a:solidFill>
                  <a:schemeClr val="accent4"/>
                </a:solidFill>
                <a:latin typeface="American Typewriter" panose="02090604020004020304" pitchFamily="18" charset="77"/>
              </a:rPr>
              <a:t>reduce stress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and makes me feel </a:t>
            </a:r>
            <a:r>
              <a:rPr lang="en-US" sz="5000" b="1">
                <a:solidFill>
                  <a:srgbClr val="00B050"/>
                </a:solidFill>
                <a:latin typeface="American Typewriter" panose="02090604020004020304" pitchFamily="18" charset="77"/>
              </a:rPr>
              <a:t>happy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 whenever I eat it. </a:t>
            </a: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95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061EC-C769-868E-222F-191C221D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FAA5642-E54E-63C8-104C-48138093A18A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5F8318A-6577-4C33-E333-FA7089B9FE9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FFD3A51-E920-9013-9D2C-84598889413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3280ABD2-572A-55AA-225D-9FE2EE76CE7A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C0ECFAA7-8747-2285-B3A4-541BD0A7DE25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E3FDDC94-638A-5027-D361-4C202309C50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7B785BFC-638C-676C-C494-9B2E2BEA80F4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E0ED2-3312-2554-BF50-FB30BE218207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are the benefits of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[noun/V</a:t>
            </a:r>
            <a:r>
              <a:rPr kumimoji="0" lang="en-US" sz="45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public transport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learning English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86289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9D240-0465-2D50-5B5F-6B5122EA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DDD0DB8-F835-31B5-CF13-514BC36D7150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E38DAE7-F812-F11D-FF9F-26F7C1CCF00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C3952B55-5DC3-36C4-5631-79577C4B310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95B10423-1121-3564-BA98-EBF0AD6229DC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76FFC021-2588-5CB5-EF51-2A2971559EF8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76E79325-1D46-D8E2-F8BB-871594A1C4EE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567AB8E8-8DEC-911D-7C17-B6E926AE1CD3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CCB13D-C0DA-1C2E-7FFF-811FA598B3ED}"/>
              </a:ext>
            </a:extLst>
          </p:cNvPr>
          <p:cNvSpPr txBox="1"/>
          <p:nvPr/>
        </p:nvSpPr>
        <p:spPr>
          <a:xfrm>
            <a:off x="800100" y="1201716"/>
            <a:ext cx="16687800" cy="788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kumimoji="0" lang="en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One benefit of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[noun/V</a:t>
            </a:r>
            <a:r>
              <a:rPr lang="en-US" sz="5500" b="1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that it helps us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It’s also a good way to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3]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5500" b="1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LƯU Ý: </a:t>
            </a:r>
            <a:r>
              <a:rPr lang="vi-VN" sz="5500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Nếu không kịp thời gian thì chỉ cần 2 lợi ích hoặc lượt bỏ “One … that”.</a:t>
            </a:r>
          </a:p>
        </p:txBody>
      </p:sp>
    </p:spTree>
    <p:extLst>
      <p:ext uri="{BB962C8B-B14F-4D97-AF65-F5344CB8AC3E}">
        <p14:creationId xmlns:p14="http://schemas.microsoft.com/office/powerpoint/2010/main" val="305995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5C79F-20C2-432E-D438-2DD3AD93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EBFA822-2647-8C2F-F749-077229A142C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F6DBA7B-D82F-2425-EF50-80D92698BCE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AE41856-098A-1F84-0D01-DAE77799707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6D5CA69-297F-A8F9-2568-74F13B73CE3E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A5E1389-7A01-C5EF-064C-836705BE7448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4A8D1-7562-71CB-8531-A8BCDEB4BB7F}"/>
              </a:ext>
            </a:extLst>
          </p:cNvPr>
          <p:cNvSpPr txBox="1"/>
          <p:nvPr/>
        </p:nvSpPr>
        <p:spPr>
          <a:xfrm>
            <a:off x="838201" y="2066208"/>
            <a:ext cx="16687799" cy="6049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the benefits of </a:t>
            </a:r>
            <a:r>
              <a:rPr lang="en-US" sz="5000" b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One benefit of </a:t>
            </a:r>
            <a:r>
              <a:rPr lang="en-US" sz="5000" b="1">
                <a:solidFill>
                  <a:srgbClr val="FF0000"/>
                </a:solidFill>
                <a:latin typeface="American Typewriter" panose="02090604020004020304" pitchFamily="18" charset="77"/>
              </a:rPr>
              <a:t>exercise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 is that it helps us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</a:rPr>
              <a:t>stay healthy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It’s also a good way to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</a:rPr>
              <a:t>improve our fitness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>
                <a:solidFill>
                  <a:srgbClr val="00B0F0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34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E217-257F-327D-637B-B9D6CC0E2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33BBFDC-9B85-9FC5-C33F-36E1836CCD30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486FE8A-1945-65DA-AD30-B3B954C31EEE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A596886-BB9B-9D09-DA82-36A812C1EA39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678E046E-60CA-6F19-68DF-9EDD62CF77EA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6918528-2CD3-47EB-E82A-2C5031F79874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752B293-ACB2-905B-6E84-0FB6AE62AC5F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B8A7DF8-6EAE-A769-5543-0B90F6E2ED7E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WHO</a:t>
            </a:r>
          </a:p>
        </p:txBody>
      </p:sp>
    </p:spTree>
    <p:extLst>
      <p:ext uri="{BB962C8B-B14F-4D97-AF65-F5344CB8AC3E}">
        <p14:creationId xmlns:p14="http://schemas.microsoft.com/office/powerpoint/2010/main" val="23080033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EA1CD-4136-9696-474A-A6F1ADC0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75AC479-A96E-6F56-A136-3BBB356E6D93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CB81FF3-EBEE-A8F4-F5BE-4371928C46A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428CEA69-4A6B-1EA2-71FB-36B2EED6231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CC1C833-4B28-79FA-34FA-184DD6BE14A4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449C2F9C-4CC7-84E2-B09C-1B07F2084B8C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85F1F302-58A0-EC22-CC12-52221A24DB8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C17233D2-423B-40BF-9FE1-14F2E6E8CA7A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A733BD-79B7-09DE-214D-D92CF0C90FEE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Who’s your favorite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 –  danh từ chỉ người]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singer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actor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football player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576794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DC7EB1-365C-ABF9-E4C9-E44559F4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0DFFBD78-43E9-CD77-62C7-B0AD671A869E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3DFD275-52B4-B833-EB85-E04046AA331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4799013-E179-6377-8F52-82B2FAB44E5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F6ED9827-30C7-F3B6-0E2B-4AF7A373B929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3E9C086B-FF14-027B-F0A3-D0A6271D029F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DEB487EA-6231-8564-9A6C-BB8C50479700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9FAFD48C-55C0-5E62-426E-DA316B85B5F3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8980D7-46BF-4B4A-7EAD-4D06E017D85E}"/>
              </a:ext>
            </a:extLst>
          </p:cNvPr>
          <p:cNvSpPr txBox="1"/>
          <p:nvPr/>
        </p:nvSpPr>
        <p:spPr>
          <a:xfrm>
            <a:off x="800100" y="1702374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My favorite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[noun – danh từ chỉ người]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[tên]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like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him/her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</a:t>
            </a:r>
            <a:r>
              <a:rPr lang="vi-VN" sz="55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[lý do chính]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Moreover,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he/she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very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tính cách]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3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A0E41E-4284-BDE2-68F7-EF3D9F10F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2C5632D-6018-49E1-AA09-14AFEE9DF829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2B82FEE-BF11-F476-F3BE-20243278822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9B8F87-3AA0-145A-183E-E67EFDD1FAC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CE0678E-B19C-3BDE-2771-2BE1437B3611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63EE675-46A1-D5A3-F076-A64B0B064E86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77599-DC50-24FA-B731-894B8F61DCF5}"/>
              </a:ext>
            </a:extLst>
          </p:cNvPr>
          <p:cNvSpPr txBox="1"/>
          <p:nvPr/>
        </p:nvSpPr>
        <p:spPr>
          <a:xfrm>
            <a:off x="838201" y="2066208"/>
            <a:ext cx="16687799" cy="6049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favorite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singer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My favorite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singer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is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Justin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Bieber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 I like him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because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40FF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he has a beautiful voice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 Moreover,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he is very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talented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14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7D5C3-6E9E-D36A-25E6-17CE6256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D44BDB1-2771-151B-3508-AEB485A7CC31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BA8E9ED-F3B1-A466-A01A-EBA82E7F34D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5AB80D6-9930-FED8-D39A-AF4E62AF56B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39986BE-FA01-3BFB-E168-5D8CFB8EDBD6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317AEC7A-0D55-E4A7-22F6-F9075F824CBC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B573A680-F0F9-8A60-00A5-673464D1B2CE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857DFDA9-E8E7-7E60-C2BA-D8B2E5151931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92789-20ED-8A7F-8A85-301E57D6B758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Who do you often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[hoạt động – V</a:t>
            </a:r>
            <a:r>
              <a:rPr kumimoji="0" lang="en-US" sz="45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out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</p:txBody>
      </p:sp>
    </p:spTree>
    <p:extLst>
      <p:ext uri="{BB962C8B-B14F-4D97-AF65-F5344CB8AC3E}">
        <p14:creationId xmlns:p14="http://schemas.microsoft.com/office/powerpoint/2010/main" val="42118841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07913-6310-CF3F-19AE-E4A30858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4A80062-7C19-C7F4-C4D0-8C5D69D16627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A9FD62B-894E-81C8-F26E-EECCF19BD4E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9C53238-5371-B95F-DC0B-4E60D46BAA0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10EEB514-9ED5-9C3E-7F04-050CF12B5878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496A9B09-52A1-7D65-7055-248C997998C2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3DB23D76-F1D7-BBD4-5659-B5F98AA314D1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B2F74FEE-149C-8528-5232-EE85925B73E5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08676-E5F6-B353-FF50-626C5D147D69}"/>
              </a:ext>
            </a:extLst>
          </p:cNvPr>
          <p:cNvSpPr txBox="1"/>
          <p:nvPr/>
        </p:nvSpPr>
        <p:spPr>
          <a:xfrm>
            <a:off x="800100" y="1865481"/>
            <a:ext cx="16687800" cy="646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often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động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with my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[đối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tượng phù hợp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we have the same hobbies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It's more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phù hợp]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when we spend time together.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71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99373-7235-DA11-08EF-9CD816FEE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BEFA5F8-9D94-63D6-31D5-7E7249845A81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D2602DD-1F2F-AA9E-F515-954718504B18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790DBDC-27E1-DD99-F233-D8A9C06DBDB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F3ED19AF-39AE-D10B-1FB2-50A1FE0C1860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1D949F8-0DB6-9F5A-396A-43315223B1A6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996B4-0C06-9F15-6898-F2400AA2F91E}"/>
              </a:ext>
            </a:extLst>
          </p:cNvPr>
          <p:cNvSpPr txBox="1"/>
          <p:nvPr/>
        </p:nvSpPr>
        <p:spPr>
          <a:xfrm>
            <a:off x="838201" y="2066208"/>
            <a:ext cx="16687799" cy="6049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often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</a:t>
            </a:r>
            <a:r>
              <a:rPr kumimoji="0" lang="en-US" sz="50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go shopping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with my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mother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because </a:t>
            </a:r>
            <a:r>
              <a:rPr lang="en-US" sz="5000" b="1">
                <a:solidFill>
                  <a:prstClr val="black"/>
                </a:solidFill>
                <a:latin typeface="American Typewriter" panose="02090604020004020304" pitchFamily="18" charset="77"/>
              </a:rPr>
              <a:t>we have the same hobbies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It’s more </a:t>
            </a:r>
            <a:r>
              <a:rPr lang="en-US" sz="5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fun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 when we spend time together. </a:t>
            </a: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67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5FC3-C505-64F9-D50F-3AC3404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AEBE055-3707-33F4-9BFB-0F7228CB2CF6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994F7F-C8BD-A089-6809-123A28AD395B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8768B4F-4FFD-1113-6978-F03FE7CD32A0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8199F1C1-2B19-C73C-7621-8BBFEC33DE47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33E4895-2262-796E-4721-2506FB992D5C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428B49C-6AD9-71BA-C4E9-0D1906066A8B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8BBFFA8-79A9-A051-3114-398901D6C043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WHEN</a:t>
            </a:r>
          </a:p>
        </p:txBody>
      </p:sp>
    </p:spTree>
    <p:extLst>
      <p:ext uri="{BB962C8B-B14F-4D97-AF65-F5344CB8AC3E}">
        <p14:creationId xmlns:p14="http://schemas.microsoft.com/office/powerpoint/2010/main" val="1055410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733BF-0C85-BC63-F4FA-5A90B8FD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3FC82FB-53E0-3FDD-DD43-9D5AEB13DF48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3195B82-81EB-909E-B630-8472E9F1F29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7036380-6E72-634B-5041-FB9CB9A6F37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AE36F67C-954F-DA80-49B4-F25CD0D9DB30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656EA14D-66B6-BD15-DF84-54FDE1EF8AFF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65F5EED6-8022-522A-CCBD-9E59AE6F0A3C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DD97CA18-D383-B97E-559B-461EC94D3F25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A09FB-86BD-C7A2-341F-7AFCAE3525B3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When do you often 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[hoạt động – V</a:t>
            </a:r>
            <a:r>
              <a:rPr kumimoji="0" lang="en-US" sz="45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meet your friends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your homework</a:t>
            </a:r>
            <a:r>
              <a:rPr kumimoji="0" lang="en-US" sz="4500" b="1" i="1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5825328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9AF1D-DB4B-9E61-8DA1-6A9DFA61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907D3A2-D121-7CC3-1A09-05B2C1B83E37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4D039B1-71A9-62F4-E315-4C560AA6CE83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D5A98BF-8E71-7E2D-193D-D1C1B7DFEE5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7B0568E8-0BFA-EEED-FC1B-4B0037EE0342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E4651005-FA50-E624-FFCA-24CB87DC8C25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68FD91F7-1100-04C6-1E59-A12D84C44E71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CF6DF387-5152-D786-C861-B0549DF4CEBC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D87CEC-2C2D-2F0E-954D-C3ED5F881CF6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I usually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[thời gian]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that’s when I have free time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helps me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makes me feel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58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3D88B-8718-CCE3-56BE-9CE9A74E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A6E15EC-C36B-A02A-9143-E91D82FF028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F72AFD-1DBB-7FB3-8C5E-95595A7B553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1BBF303-A410-CFDF-EFB3-9B4A05B5AE4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336EBAC-C787-B169-1B5A-F18BAE4160BE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8A35100-B6D6-1127-F043-5374AC3B87EE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B93A8-F6B3-EECC-DFC7-80289955DBBF}"/>
              </a:ext>
            </a:extLst>
          </p:cNvPr>
          <p:cNvSpPr txBox="1"/>
          <p:nvPr/>
        </p:nvSpPr>
        <p:spPr>
          <a:xfrm>
            <a:off x="838201" y="2066208"/>
            <a:ext cx="16687799" cy="622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to music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listen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to music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 the evening </a:t>
            </a: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</a:t>
            </a: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that’s when I have</a:t>
            </a:r>
            <a:r>
              <a:rPr kumimoji="0" lang="en-US" sz="5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free time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It helps me </a:t>
            </a:r>
            <a:r>
              <a:rPr lang="en-US" sz="5000" b="1">
                <a:solidFill>
                  <a:schemeClr val="accent4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 and makes me feel </a:t>
            </a:r>
            <a:r>
              <a:rPr lang="en-US" sz="5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relaxed</a:t>
            </a:r>
            <a:r>
              <a:rPr lang="en-US" sz="500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371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4D95-7F13-5A56-F0A8-5C4A0980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30C2708-4B6C-3B54-4975-91B81A7E0207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5BA69B-BD0C-96BF-8F1D-3596AA2049CD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EE36897-965C-4275-EBAE-F32DD401B1B1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D00A29F6-400E-840A-C70A-EAEA56CD8AA9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A08DC02-D436-48D2-4439-FA6C20306194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D9031E7-5AC1-04E5-975F-E42B9052C756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327C5D1-2AE3-377E-48AB-A5960F46E518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19295965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344FC-6D8B-0346-62A7-0575D30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09656FA0-53E8-056D-B8CA-85CB3DA7E140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1217CB6-CF9B-1197-6D68-93F439DE920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D505776-3604-B54F-556B-60119E42BA1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FF12828F-9F55-81C3-2EA4-7683483A11FB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E81D2703-F79C-0457-83B2-C51B674AD952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C23643B6-26CD-7E85-30CB-32CF60E481A8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B0020767-DF7B-D563-6FF7-F6771A39D6A9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188EA-B496-E1D6-FD56-9DCD761B96F4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hang out with your friends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9220200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FEF19-6048-BDA4-0275-633B972F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D441F21-9C6B-A831-FA90-2AA998A4F96C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0489395-8EAA-EDE5-7216-BF3B7BB28F7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E633663-A1E9-A618-ED21-E029C925BC6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2D3F9E5-9154-770F-D285-F890579CFB6F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D90EBBA7-D4F1-5047-35C2-6C77C7F05452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07959AB0-A6E0-7C91-938A-11B6162824D8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3A49BE4E-0FF8-ED09-B281-F6993F89BC26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CBF03-142C-9275-8EBC-962F551A619B}"/>
              </a:ext>
            </a:extLst>
          </p:cNvPr>
          <p:cNvSpPr txBox="1"/>
          <p:nvPr/>
        </p:nvSpPr>
        <p:spPr>
          <a:xfrm>
            <a:off x="800100" y="2506835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I usually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[cụm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địa điểm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it’s 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địa điểm]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helps me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060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27D59-3DAD-D6DD-9AA4-C9EA1D85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5427924-4479-E248-C600-80FC534008B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944AAFF-33F7-C964-8E7B-908D1D627A7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CB0FC76-480A-65FE-AE0B-F68B6B0B964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CF52CA7-0A78-ADF4-1008-99D3F3688AD1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271C27D-5083-616A-C344-5441D8C82ACC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8D74F-63C7-E6FC-8189-97F11F9305BE}"/>
              </a:ext>
            </a:extLst>
          </p:cNvPr>
          <p:cNvSpPr txBox="1"/>
          <p:nvPr/>
        </p:nvSpPr>
        <p:spPr>
          <a:xfrm>
            <a:off x="838201" y="2066208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read books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 the school library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it’s very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quiet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helps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focus better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motivated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1448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D8D2-6DA2-53F9-1CAE-F35489AE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08B95F2-7F9C-B7EC-BF03-88813247766E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0F43B1E-17F1-122E-8528-27C4B80533EC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CF1F42F-280A-F267-8B92-1B6E652141A2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F735D799-F535-9FDE-02DF-50CF6DCF1FB1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575D6A2-F063-0299-0868-788BE2440F83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40B3C0B-6180-5B87-4ECB-E5502EB1F90E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3DB4787-3517-29FB-FC18-4BD81B14D8E3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16610942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CB01C-7A1E-9B1B-6E24-E14C061C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3FEF528-903F-433E-62F4-95028DE8A4D2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C7A5107-E606-769F-E5E6-EB57984436B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D5B714C-D94B-4A84-D5A4-9559A59E9F14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AB366DE5-420B-9C55-D54B-5D5455D37856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BA6BD1EB-D170-9CAD-AE52-2E5E69BFF5EB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4A47C6C3-FE78-CA5D-BA13-BB03D2EB33A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5320E292-CC58-F295-3748-18CB017B69A1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F604F-16C1-74AD-622B-6043506A95F7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Why do you like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lang="en-US" sz="4500" b="1" baseline="-25000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listening to music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sports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learning English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 </a:t>
            </a:r>
          </a:p>
        </p:txBody>
      </p:sp>
    </p:spTree>
    <p:extLst>
      <p:ext uri="{BB962C8B-B14F-4D97-AF65-F5344CB8AC3E}">
        <p14:creationId xmlns:p14="http://schemas.microsoft.com/office/powerpoint/2010/main" val="32977365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E6456-7E0C-FE7B-5C6D-FD6420C20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03308C8-2D48-53BF-9E7C-9436F5D87D0A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4B8ED4F-C6AE-2885-CBA0-F7CC5A0415B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230104C-D546-2F15-6AE6-9A0FC9BBBEA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EDBF2DA-559B-DF71-4F60-ED73A646A9B4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7872470A-06FB-6AF3-D5E3-B9FA793C215A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AA4FB909-6AA7-3489-2BB7-843D1F51819A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2F2A9230-3AF1-D726-41A1-189AAA34D806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F3D03-2E40-732C-5673-D4A7D7EC4A89}"/>
              </a:ext>
            </a:extLst>
          </p:cNvPr>
          <p:cNvSpPr txBox="1"/>
          <p:nvPr/>
        </p:nvSpPr>
        <p:spPr>
          <a:xfrm>
            <a:off x="800100" y="1163615"/>
            <a:ext cx="16687800" cy="788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I </a:t>
            </a:r>
            <a:r>
              <a:rPr lang="vi-VN" sz="5500" kern="100" noProof="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enjoy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it’s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hoạt động]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helps me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makes me feel </a:t>
            </a:r>
            <a:r>
              <a:rPr lang="vi-VN" sz="5500" b="1" kern="100" dirty="0">
                <a:solidFill>
                  <a:schemeClr val="accent5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LƯU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Ý: 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Nếu không muốn mô tả cảm xúc thì có thể thay bằng 1 lợi ích khác.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73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500CF-1CC1-1C85-591F-CD3864F6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62CB19A-64F8-D50D-3D5A-88AD66D016CF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7D334F7-2926-0388-F812-120E290252F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4130012-A7D3-1325-5345-55EB04CDDB1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047399FB-9306-F475-D7C2-4AECE4688213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FADB9B9-ADFF-4716-9BD9-EAB1D864F0FE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2E724-C062-77FB-A056-EE51129ADCA4}"/>
              </a:ext>
            </a:extLst>
          </p:cNvPr>
          <p:cNvSpPr txBox="1"/>
          <p:nvPr/>
        </p:nvSpPr>
        <p:spPr>
          <a:xfrm>
            <a:off x="800100" y="2521732"/>
            <a:ext cx="16687799" cy="490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swimming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</a:t>
            </a:r>
            <a:r>
              <a:rPr lang="en-US" sz="5000" noProof="0" dirty="0">
                <a:solidFill>
                  <a:prstClr val="black"/>
                </a:solidFill>
                <a:latin typeface="American Typewriter" panose="02090604020004020304" pitchFamily="18" charset="77"/>
              </a:rPr>
              <a:t>enjoy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swimming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it’s very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interesting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helps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healthy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makes me feel </a:t>
            </a:r>
            <a:r>
              <a:rPr lang="en-US" sz="5000" b="1" dirty="0">
                <a:solidFill>
                  <a:schemeClr val="accent5"/>
                </a:solidFill>
                <a:latin typeface="American Typewriter" panose="02090604020004020304" pitchFamily="18" charset="77"/>
              </a:rPr>
              <a:t>relaxed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7606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2207-315F-C09A-AF5D-B66ADC6D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1835629-F663-2890-81AA-C6820E754C39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E9A1D76-2E83-96B1-E342-E9FFBA5D6D0B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88FD147-05C7-C34B-2058-8EC5E7A5931F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B2BEA985-065C-C476-D332-3368EB69D2F6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BD5ABC4-5082-70BB-5AC9-67CF9466C2D1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BA188DC-4C91-01F1-EE3C-0E392C2F2940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9E3F006-2135-4111-4330-86187230125A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 dirty="0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 dirty="0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32021200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D73FB-126C-5462-00A3-1B180DF6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15B77FC-992F-55DD-3A28-48EC4F43EBAA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F72C480-0FA2-EE21-5A0A-558A1428A2D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F68234C-CCF7-9B8E-B9A7-9686EE26E1F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990F1752-CB47-E181-92FC-1CB3B0D19F57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165BCE96-6A25-3EF6-5EEA-5B69266A50E6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13EA554B-488F-C2CB-5E87-B1B8AEF81C47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51BABD7A-E3D1-4AED-53F5-D1D77BE6FEFC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7974D-5EEA-7FBF-82FF-E58D7B2AE74B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do you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[go/get/commute/travel] to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get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school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commute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the supermarket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026" name="Picture 2" descr="Means of Transportation - Learn English vocabulary with Pictures | EngKid">
            <a:extLst>
              <a:ext uri="{FF2B5EF4-FFF2-40B4-BE49-F238E27FC236}">
                <a16:creationId xmlns:a16="http://schemas.microsoft.com/office/drawing/2014/main" id="{B056327F-8B1B-088E-0C8B-A91E3F4DC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" r="2477"/>
          <a:stretch>
            <a:fillRect/>
          </a:stretch>
        </p:blipFill>
        <p:spPr bwMode="auto">
          <a:xfrm>
            <a:off x="10744200" y="2848474"/>
            <a:ext cx="6533512" cy="387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66978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E4FCC-FB6D-ED54-13E7-0C47AED5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1480E79-7F1F-1BEA-FE66-B00DF59A3506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56B4DC8-46E8-1CC0-4150-EC986A69968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322504F1-4E59-6CFD-8C12-C99AA5496D7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7F7161D8-508E-ACFF-22F7-BE6C4375D4F8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0567358D-B84F-DF41-D9CD-1BA445FFC635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04BD1E40-A7D3-FE50-DB58-DDBC97FBB35C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DDA73F45-3624-501D-42EA-69337916EB00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A7FF5F-1B96-830B-404D-F1AFF1F1A6BD}"/>
              </a:ext>
            </a:extLst>
          </p:cNvPr>
          <p:cNvSpPr txBox="1"/>
          <p:nvPr/>
        </p:nvSpPr>
        <p:spPr>
          <a:xfrm>
            <a:off x="800100" y="2336977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I usually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[go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/get/commute/travel]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there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by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[phương tiện]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it’s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phương tiện]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also helps me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3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6B475-BA0A-50F5-1F4E-C0BCE948C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42A15C6-8DA2-75F8-B633-4C21A32E843F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9DC069B-3825-AF87-0F48-32A1C1E929D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319D3A1-9F58-25ED-1E43-BB7080E6DBD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48D37820-0881-12C1-D552-51F3505C2821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F43A97D-8BA9-A60F-F394-DAD77B1DDF79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F02AA-9BB9-D87D-1CE9-85E629798F42}"/>
              </a:ext>
            </a:extLst>
          </p:cNvPr>
          <p:cNvSpPr txBox="1"/>
          <p:nvPr/>
        </p:nvSpPr>
        <p:spPr>
          <a:xfrm>
            <a:off x="800100" y="2521732"/>
            <a:ext cx="16687799" cy="4894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school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day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usually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go to school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by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motorbike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because it’s very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fast and convenient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also helps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save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1217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A9151-F52B-D23D-AFD7-4483BA6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C4656EF-679D-3D82-87B8-02122AF3D6EF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A806AA9-8687-530F-71FA-2A61F42B1B9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D1B461D-5A6E-0E90-8E6A-A82A1B03C2E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796EEF6A-22DC-5921-DC97-A72A94118417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36BE8890-CBED-0408-EBF7-FE585246BE3B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906CA5CA-26DA-73EE-701A-17FBF3591799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8053E74D-DC5E-CAEC-5339-0125306A95A5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AB285-1FC3-D90A-83AF-E7273FA60467}"/>
              </a:ext>
            </a:extLst>
          </p:cNvPr>
          <p:cNvSpPr txBox="1"/>
          <p:nvPr/>
        </p:nvSpPr>
        <p:spPr>
          <a:xfrm>
            <a:off x="800100" y="1733306"/>
            <a:ext cx="16687800" cy="706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often do you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4800" b="1" kern="100" baseline="-250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movies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46483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696B-3C8F-6BCD-2C79-13AC68E1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D543EE21-2934-3B30-C514-8B03CB3BB5EC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4837806-0089-0C88-B9A7-26A4E6D5782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3B34B37-0FEC-6FDE-2352-9D953393CF7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59EE2C58-523B-7A95-499F-AA1E73F1968B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27AEE950-474D-6F91-3EAE-9045D788ECC9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3DB5B888-AC61-2128-8C8B-55407CCA7AEA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D1B3CF8E-D50F-D89C-0AAB-597B9491C1D2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E4D122-FB2E-9B51-7C45-7D7A565B566D}"/>
              </a:ext>
            </a:extLst>
          </p:cNvPr>
          <p:cNvSpPr txBox="1"/>
          <p:nvPr/>
        </p:nvSpPr>
        <p:spPr>
          <a:xfrm>
            <a:off x="800100" y="2565207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Although I'm busy, I try to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[tần suất]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helps me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29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B413B-F07E-E676-345E-F62F097F9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1C45512-1DA1-D3A8-1D2D-49CCC968216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A21EC6D-D112-D19D-9D33-90E34D03D6A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0FE9F69-B514-6A87-D779-C2FE69BB8B3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F30D4A2-DEC1-FE43-F485-F647006007D4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9FBCAE4-D717-A3DE-FF7D-CF08398B591A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68E82-256D-B994-9014-FC4274C9327C}"/>
              </a:ext>
            </a:extLst>
          </p:cNvPr>
          <p:cNvSpPr txBox="1"/>
          <p:nvPr/>
        </p:nvSpPr>
        <p:spPr>
          <a:xfrm>
            <a:off x="800100" y="2118954"/>
            <a:ext cx="16687799" cy="6049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often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the library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week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Although I’m busy, I still try 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go to the library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twice a week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it helps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focus better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study more effectively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75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A8B01-B4FA-445F-07F5-86CEC599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1052372-3457-3A7E-3F0C-DD40ACA3A20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483ED76-BB49-8583-8F81-DDAFA260F4C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46C4AF0E-9ADB-B0CE-B1B1-B054BA11D70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90899619-CB7F-A952-68D6-8AC92E479737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ED762970-AB3E-FB63-83AB-0EAEFE8B59CC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8A4C1DB8-7F78-5179-0061-7C5A512381EC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91B044C7-CEB5-FFB8-1036-95D7808E4DA7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84B4F-FE02-BF9D-BA4C-4859999FE762}"/>
              </a:ext>
            </a:extLst>
          </p:cNvPr>
          <p:cNvSpPr txBox="1"/>
          <p:nvPr/>
        </p:nvSpPr>
        <p:spPr>
          <a:xfrm>
            <a:off x="800100" y="1733306"/>
            <a:ext cx="16687800" cy="706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much time do you spend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4800" b="1" kern="100" baseline="-250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English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social media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  <p:pic>
        <p:nvPicPr>
          <p:cNvPr id="2050" name="Picture 2" descr="Alarm clock - Wikipedia">
            <a:extLst>
              <a:ext uri="{FF2B5EF4-FFF2-40B4-BE49-F238E27FC236}">
                <a16:creationId xmlns:a16="http://schemas.microsoft.com/office/drawing/2014/main" id="{AF8F00ED-069B-C822-7FC5-30DC9DE4D66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0" y="1191626"/>
            <a:ext cx="1731548" cy="220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910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7D248-DDE3-90F1-E130-EE34C2D82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9CB43BE8-BB39-FC64-5162-77CE30C5388D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6A3F346-B804-D8B7-2263-CCDCB645626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0105346E-0044-8983-A88F-D0ACDC052B4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A68D845F-E7E8-8E8D-9680-C51A72E3C5C3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AE1453CB-34BB-368B-685A-4D8FDEB4B00A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C19B1BCB-C0C9-B83F-DBD2-2074DCF9CA73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ADCA3A7A-11CB-D060-B323-C34BEA124CE1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CD533C-585D-7F42-B33E-09991B496698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Although I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have a busy schdule,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still spend about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[lượng thời gian]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5500" kern="100" dirty="0"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every day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helps me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also makes me feel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97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57BDA-1175-7E87-E8C6-1785AEDF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E6F391D-0C26-569E-43AC-34E441E15213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BD66B4-700E-32D3-6C9C-96497481274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CF38293-0D94-98A4-3594-45865A371AD6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BB76EA93-E564-CE58-75AA-8866C3D8E37F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8959BCC-0568-0819-2FF0-3C5F7DCB963B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31A91-D3B1-4C33-4D85-8C29BB908FF3}"/>
              </a:ext>
            </a:extLst>
          </p:cNvPr>
          <p:cNvSpPr txBox="1"/>
          <p:nvPr/>
        </p:nvSpPr>
        <p:spPr>
          <a:xfrm>
            <a:off x="800100" y="1538859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much time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spend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English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Although I have a busy schedule,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still spend about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two hours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studying English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every day because it helps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improve my vocabulary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also makes me feel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confident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01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29634-1949-44FD-9B79-17CAF13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41E819FC-0A6D-4C1E-F3B7-7DBE18E6EC0E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A3FAFBD-578F-60B0-66FF-CF217BFABE58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868AA78-F9A4-4CD8-68EB-FF7F02C8EBF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B6FBA293-9ACE-ADCD-BC5A-0CA71B744D18}"/>
              </a:ext>
            </a:extLst>
          </p:cNvPr>
          <p:cNvSpPr/>
          <p:nvPr/>
        </p:nvSpPr>
        <p:spPr>
          <a:xfrm>
            <a:off x="16897102" y="8175745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88696B3F-DFB5-0DCC-B03F-90D76800214D}"/>
              </a:ext>
            </a:extLst>
          </p:cNvPr>
          <p:cNvSpPr/>
          <p:nvPr/>
        </p:nvSpPr>
        <p:spPr>
          <a:xfrm>
            <a:off x="-358513" y="7835962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91CA9FF1-C756-F10F-FA1B-00242F30B805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4609A82C-0598-0ABD-C3AF-1177DE110E25}"/>
              </a:ext>
            </a:extLst>
          </p:cNvPr>
          <p:cNvSpPr/>
          <p:nvPr/>
        </p:nvSpPr>
        <p:spPr>
          <a:xfrm rot="16200000">
            <a:off x="16613799" y="-606691"/>
            <a:ext cx="1452960" cy="2676558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9EA2A-D544-F375-52D1-486DE9472C5F}"/>
              </a:ext>
            </a:extLst>
          </p:cNvPr>
          <p:cNvSpPr txBox="1"/>
          <p:nvPr/>
        </p:nvSpPr>
        <p:spPr>
          <a:xfrm>
            <a:off x="800100" y="927508"/>
            <a:ext cx="16687800" cy="872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much money do you spend on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noun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4800" b="1" kern="100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every month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clothes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books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every month?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entertainment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 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lenty Of Money | Seeking Alpha">
            <a:extLst>
              <a:ext uri="{FF2B5EF4-FFF2-40B4-BE49-F238E27FC236}">
                <a16:creationId xmlns:a16="http://schemas.microsoft.com/office/drawing/2014/main" id="{F9608053-3D01-C353-8E58-2B6FB1AFD0A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978" y="2247900"/>
            <a:ext cx="3390900" cy="25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9054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77D8D-CA75-0010-2B79-19A173DC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8D378BD-4B9C-C9F3-8EA1-73582ACCABB1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BF5ABC2-7787-7E47-30A3-EC7F832185A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6ACB217-B148-DF3D-4CD9-BFC5286BC436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Freeform 21">
            <a:extLst>
              <a:ext uri="{FF2B5EF4-FFF2-40B4-BE49-F238E27FC236}">
                <a16:creationId xmlns:a16="http://schemas.microsoft.com/office/drawing/2014/main" id="{930C0D5F-ACDD-0CB4-9F99-9A17CF161B00}"/>
              </a:ext>
            </a:extLst>
          </p:cNvPr>
          <p:cNvSpPr/>
          <p:nvPr/>
        </p:nvSpPr>
        <p:spPr>
          <a:xfrm>
            <a:off x="17332386" y="8269781"/>
            <a:ext cx="1346172" cy="2114406"/>
          </a:xfrm>
          <a:custGeom>
            <a:avLst/>
            <a:gdLst/>
            <a:ahLst/>
            <a:cxnLst/>
            <a:rect l="l" t="t" r="r" b="b"/>
            <a:pathLst>
              <a:path w="1346172" h="2114406">
                <a:moveTo>
                  <a:pt x="0" y="0"/>
                </a:moveTo>
                <a:lnTo>
                  <a:pt x="1346171" y="0"/>
                </a:lnTo>
                <a:lnTo>
                  <a:pt x="1346171" y="2114406"/>
                </a:lnTo>
                <a:lnTo>
                  <a:pt x="0" y="211440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A5F69A09-F628-33D6-5A51-C27C17343EA1}"/>
              </a:ext>
            </a:extLst>
          </p:cNvPr>
          <p:cNvSpPr/>
          <p:nvPr/>
        </p:nvSpPr>
        <p:spPr>
          <a:xfrm>
            <a:off x="-504756" y="7933149"/>
            <a:ext cx="1326624" cy="2451038"/>
          </a:xfrm>
          <a:custGeom>
            <a:avLst/>
            <a:gdLst/>
            <a:ahLst/>
            <a:cxnLst/>
            <a:rect l="l" t="t" r="r" b="b"/>
            <a:pathLst>
              <a:path w="1326624" h="2451038">
                <a:moveTo>
                  <a:pt x="0" y="0"/>
                </a:moveTo>
                <a:lnTo>
                  <a:pt x="1326624" y="0"/>
                </a:lnTo>
                <a:lnTo>
                  <a:pt x="1326624" y="2451038"/>
                </a:lnTo>
                <a:lnTo>
                  <a:pt x="0" y="245103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Freeform 26">
            <a:extLst>
              <a:ext uri="{FF2B5EF4-FFF2-40B4-BE49-F238E27FC236}">
                <a16:creationId xmlns:a16="http://schemas.microsoft.com/office/drawing/2014/main" id="{41706243-6D8C-4337-5202-EE62D2DD6A11}"/>
              </a:ext>
            </a:extLst>
          </p:cNvPr>
          <p:cNvSpPr/>
          <p:nvPr/>
        </p:nvSpPr>
        <p:spPr>
          <a:xfrm rot="5400000">
            <a:off x="95390" y="-1129247"/>
            <a:ext cx="1452957" cy="3167741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1"/>
                </a:lnTo>
                <a:lnTo>
                  <a:pt x="0" y="3249501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 25">
            <a:extLst>
              <a:ext uri="{FF2B5EF4-FFF2-40B4-BE49-F238E27FC236}">
                <a16:creationId xmlns:a16="http://schemas.microsoft.com/office/drawing/2014/main" id="{1DD602C1-9485-5DE6-74FD-8E2BB8D02D73}"/>
              </a:ext>
            </a:extLst>
          </p:cNvPr>
          <p:cNvSpPr/>
          <p:nvPr/>
        </p:nvSpPr>
        <p:spPr>
          <a:xfrm rot="16200000">
            <a:off x="16030215" y="-596050"/>
            <a:ext cx="2047185" cy="3249500"/>
          </a:xfrm>
          <a:custGeom>
            <a:avLst/>
            <a:gdLst/>
            <a:ahLst/>
            <a:cxnLst/>
            <a:rect l="l" t="t" r="r" b="b"/>
            <a:pathLst>
              <a:path w="2047185" h="3249500">
                <a:moveTo>
                  <a:pt x="0" y="0"/>
                </a:moveTo>
                <a:lnTo>
                  <a:pt x="2047185" y="0"/>
                </a:lnTo>
                <a:lnTo>
                  <a:pt x="2047185" y="3249500"/>
                </a:lnTo>
                <a:lnTo>
                  <a:pt x="0" y="32495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DAA4C4-0BA4-B920-F638-05D69AAF46F4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still a student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so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need to save money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b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</a:b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only spend about </a:t>
            </a:r>
            <a:r>
              <a:rPr lang="vi-VN" sz="5500" b="1" kern="100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[số tiền]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on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[thứ gì đó]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every month because I think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it’s reasonable for me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3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DCCAD-437F-6932-9B4A-ECA76AE7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91DCB62-0F1C-3C51-757B-975D1C19776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8D0325E-70CC-B2A0-7C36-8C76CE29190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D91799F-6EAB-0671-C9D7-CA3BED29276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25B8C32D-16A2-B9B4-B5D2-90EDCC78938C}"/>
              </a:ext>
            </a:extLst>
          </p:cNvPr>
          <p:cNvSpPr/>
          <p:nvPr/>
        </p:nvSpPr>
        <p:spPr>
          <a:xfrm>
            <a:off x="-550713" y="8227223"/>
            <a:ext cx="2206327" cy="2143684"/>
          </a:xfrm>
          <a:custGeom>
            <a:avLst/>
            <a:gdLst/>
            <a:ahLst/>
            <a:cxnLst/>
            <a:rect l="l" t="t" r="r" b="b"/>
            <a:pathLst>
              <a:path w="2206327" h="2057400">
                <a:moveTo>
                  <a:pt x="0" y="0"/>
                </a:moveTo>
                <a:lnTo>
                  <a:pt x="2206327" y="0"/>
                </a:lnTo>
                <a:lnTo>
                  <a:pt x="220632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84A94E0-1491-1E25-A557-D84A676917D9}"/>
              </a:ext>
            </a:extLst>
          </p:cNvPr>
          <p:cNvSpPr/>
          <p:nvPr/>
        </p:nvSpPr>
        <p:spPr>
          <a:xfrm>
            <a:off x="15625650" y="258671"/>
            <a:ext cx="2109899" cy="3080145"/>
          </a:xfrm>
          <a:custGeom>
            <a:avLst/>
            <a:gdLst/>
            <a:ahLst/>
            <a:cxnLst/>
            <a:rect l="l" t="t" r="r" b="b"/>
            <a:pathLst>
              <a:path w="2109899" h="3080145">
                <a:moveTo>
                  <a:pt x="0" y="0"/>
                </a:moveTo>
                <a:lnTo>
                  <a:pt x="2109899" y="0"/>
                </a:lnTo>
                <a:lnTo>
                  <a:pt x="2109899" y="3080146"/>
                </a:lnTo>
                <a:lnTo>
                  <a:pt x="0" y="3080146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7F1AF-41E3-B49D-B602-EBFC956D5DDA}"/>
              </a:ext>
            </a:extLst>
          </p:cNvPr>
          <p:cNvSpPr txBox="1"/>
          <p:nvPr/>
        </p:nvSpPr>
        <p:spPr>
          <a:xfrm>
            <a:off x="800100" y="1538859"/>
            <a:ext cx="16687799" cy="7472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much money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spend on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clothes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I’m still a student, so I need to save money.</a:t>
            </a:r>
            <a:b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</a:b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only spend about </a:t>
            </a:r>
            <a:r>
              <a:rPr lang="en-US" sz="5000" b="1" dirty="0">
                <a:solidFill>
                  <a:schemeClr val="accent3"/>
                </a:solidFill>
                <a:latin typeface="American Typewriter" panose="02090604020004020304" pitchFamily="18" charset="77"/>
              </a:rPr>
              <a:t>500,000 dong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on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clothes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every month because I think it’s reasonable for me.</a:t>
            </a:r>
          </a:p>
        </p:txBody>
      </p:sp>
    </p:spTree>
    <p:extLst>
      <p:ext uri="{BB962C8B-B14F-4D97-AF65-F5344CB8AC3E}">
        <p14:creationId xmlns:p14="http://schemas.microsoft.com/office/powerpoint/2010/main" val="35304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25882</TotalTime>
  <Words>4183</Words>
  <Application>Microsoft Macintosh PowerPoint</Application>
  <PresentationFormat>Custom</PresentationFormat>
  <Paragraphs>366</Paragraphs>
  <Slides>89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5" baseType="lpstr">
      <vt:lpstr>American Typewriter</vt:lpstr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Nguyet Pham</cp:lastModifiedBy>
  <cp:revision>102</cp:revision>
  <dcterms:created xsi:type="dcterms:W3CDTF">2006-08-16T00:00:00Z</dcterms:created>
  <dcterms:modified xsi:type="dcterms:W3CDTF">2026-06-29T14:48:19Z</dcterms:modified>
  <dc:identifier>DAG7GToMAuM</dc:identifier>
</cp:coreProperties>
</file>