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5" r:id="rId10"/>
    <p:sldId id="263" r:id="rId11"/>
    <p:sldId id="271" r:id="rId12"/>
    <p:sldId id="479" r:id="rId13"/>
    <p:sldId id="480" r:id="rId14"/>
    <p:sldId id="410" r:id="rId15"/>
    <p:sldId id="481" r:id="rId16"/>
    <p:sldId id="482" r:id="rId17"/>
    <p:sldId id="417" r:id="rId18"/>
    <p:sldId id="483" r:id="rId19"/>
    <p:sldId id="484" r:id="rId20"/>
    <p:sldId id="418" r:id="rId21"/>
    <p:sldId id="485" r:id="rId22"/>
    <p:sldId id="486" r:id="rId23"/>
    <p:sldId id="421" r:id="rId24"/>
    <p:sldId id="487" r:id="rId25"/>
    <p:sldId id="488" r:id="rId26"/>
    <p:sldId id="424" r:id="rId27"/>
    <p:sldId id="489" r:id="rId28"/>
    <p:sldId id="490" r:id="rId29"/>
    <p:sldId id="427" r:id="rId30"/>
    <p:sldId id="491" r:id="rId31"/>
    <p:sldId id="492" r:id="rId32"/>
    <p:sldId id="308" r:id="rId33"/>
    <p:sldId id="309" r:id="rId34"/>
    <p:sldId id="430" r:id="rId35"/>
    <p:sldId id="493" r:id="rId36"/>
    <p:sldId id="494" r:id="rId37"/>
    <p:sldId id="495" r:id="rId38"/>
    <p:sldId id="317" r:id="rId39"/>
    <p:sldId id="318" r:id="rId40"/>
    <p:sldId id="319" r:id="rId41"/>
    <p:sldId id="433" r:id="rId42"/>
    <p:sldId id="496" r:id="rId43"/>
    <p:sldId id="497" r:id="rId44"/>
    <p:sldId id="436" r:id="rId45"/>
    <p:sldId id="498" r:id="rId46"/>
    <p:sldId id="438" r:id="rId47"/>
    <p:sldId id="439" r:id="rId48"/>
    <p:sldId id="500" r:id="rId49"/>
    <p:sldId id="501" r:id="rId50"/>
    <p:sldId id="442" r:id="rId51"/>
    <p:sldId id="502" r:id="rId52"/>
    <p:sldId id="503" r:id="rId53"/>
    <p:sldId id="445" r:id="rId54"/>
    <p:sldId id="504" r:id="rId55"/>
    <p:sldId id="505" r:id="rId56"/>
    <p:sldId id="448" r:id="rId57"/>
    <p:sldId id="506" r:id="rId58"/>
    <p:sldId id="507" r:id="rId59"/>
    <p:sldId id="334" r:id="rId60"/>
    <p:sldId id="451" r:id="rId61"/>
    <p:sldId id="508" r:id="rId62"/>
    <p:sldId id="509" r:id="rId63"/>
    <p:sldId id="454" r:id="rId64"/>
    <p:sldId id="510" r:id="rId65"/>
    <p:sldId id="511" r:id="rId66"/>
    <p:sldId id="387" r:id="rId67"/>
    <p:sldId id="457" r:id="rId68"/>
    <p:sldId id="512" r:id="rId69"/>
    <p:sldId id="513" r:id="rId70"/>
    <p:sldId id="379" r:id="rId71"/>
    <p:sldId id="460" r:id="rId72"/>
    <p:sldId id="514" r:id="rId73"/>
    <p:sldId id="515" r:id="rId74"/>
    <p:sldId id="396" r:id="rId75"/>
    <p:sldId id="463" r:id="rId76"/>
    <p:sldId id="516" r:id="rId77"/>
    <p:sldId id="517" r:id="rId78"/>
    <p:sldId id="466" r:id="rId79"/>
    <p:sldId id="467" r:id="rId80"/>
    <p:sldId id="518" r:id="rId81"/>
    <p:sldId id="519" r:id="rId82"/>
    <p:sldId id="470" r:id="rId83"/>
    <p:sldId id="520" r:id="rId84"/>
    <p:sldId id="521" r:id="rId85"/>
    <p:sldId id="473" r:id="rId86"/>
    <p:sldId id="522" r:id="rId87"/>
    <p:sldId id="523" r:id="rId88"/>
    <p:sldId id="476" r:id="rId89"/>
    <p:sldId id="524" r:id="rId90"/>
    <p:sldId id="525" r:id="rId9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78" autoAdjust="0"/>
    <p:restoredTop sz="94610" autoAdjust="0"/>
  </p:normalViewPr>
  <p:slideViewPr>
    <p:cSldViewPr>
      <p:cViewPr varScale="1">
        <p:scale>
          <a:sx n="96" d="100"/>
          <a:sy n="96" d="100"/>
        </p:scale>
        <p:origin x="4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2A124-538E-5B44-B1CA-A238E84DDED8}" type="datetimeFigureOut">
              <a:t>5/9/26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4602F-1ADD-A246-A578-2795EF4A2604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74570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4777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/>
              <a:t>9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611259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28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36305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0594-4F9A-8DF5-FD03-5AF60F0F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A55FD-89F1-4DF4-7817-A4808076E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D85CB-D226-6114-98CA-8550BF949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931FF-5630-2CD4-9578-487DD60FC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2523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32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777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F80A4-51BF-9616-59BF-EBD3430A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EE341-BA12-9BD8-BCF2-F8102A05F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67556-F1E2-269A-1819-3589480A7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C6D29-BD9B-F473-9F71-9C8212CC6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9243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759E-7072-65BD-8748-053BA29D5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08B9CF-EA50-5E21-84F0-DB3F0591F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86850-ADF7-BE1F-93FB-BB9A5105D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1ED62-6E10-52ED-F698-517BF8642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37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5988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D4602F-1ADD-A246-A578-2795EF4A2604}" type="slidenum">
              <a:rPr lang="en-VN" smtClean="0"/>
              <a:t>88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615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1599" y="3162300"/>
            <a:ext cx="15544800" cy="3843513"/>
            <a:chOff x="0" y="0"/>
            <a:chExt cx="3180061" cy="10122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1012283"/>
            </a:xfrm>
            <a:custGeom>
              <a:avLst/>
              <a:gdLst/>
              <a:ahLst/>
              <a:cxnLst/>
              <a:rect l="l" t="t" r="r" b="b"/>
              <a:pathLst>
                <a:path w="3180061" h="1012283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979583"/>
                  </a:lnTo>
                  <a:cubicBezTo>
                    <a:pt x="3180061" y="997643"/>
                    <a:pt x="3165420" y="1012283"/>
                    <a:pt x="3147360" y="1012283"/>
                  </a:cubicBezTo>
                  <a:lnTo>
                    <a:pt x="32701" y="1012283"/>
                  </a:lnTo>
                  <a:cubicBezTo>
                    <a:pt x="14641" y="1012283"/>
                    <a:pt x="0" y="997643"/>
                    <a:pt x="0" y="979583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1059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31995" y="3699061"/>
            <a:ext cx="14224007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000" b="1" dirty="0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PART 01: </a:t>
            </a:r>
          </a:p>
          <a:p>
            <a:pPr algn="ctr"/>
            <a:r>
              <a:rPr lang="en-US" sz="9000" b="1" dirty="0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SOCIAL INTERACTION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0185" y="630759"/>
            <a:ext cx="12074293" cy="1675829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3" y="2949856"/>
            <a:ext cx="16817333" cy="6613244"/>
            <a:chOff x="0" y="0"/>
            <a:chExt cx="1049357" cy="14801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9357" cy="1480188"/>
            </a:xfrm>
            <a:custGeom>
              <a:avLst/>
              <a:gdLst/>
              <a:ahLst/>
              <a:cxnLst/>
              <a:rect l="l" t="t" r="r" b="b"/>
              <a:pathLst>
                <a:path w="1049357" h="1480188">
                  <a:moveTo>
                    <a:pt x="76508" y="0"/>
                  </a:moveTo>
                  <a:lnTo>
                    <a:pt x="972849" y="0"/>
                  </a:lnTo>
                  <a:cubicBezTo>
                    <a:pt x="993140" y="0"/>
                    <a:pt x="1012600" y="8061"/>
                    <a:pt x="1026948" y="22409"/>
                  </a:cubicBezTo>
                  <a:cubicBezTo>
                    <a:pt x="1041296" y="36757"/>
                    <a:pt x="1049357" y="56217"/>
                    <a:pt x="1049357" y="76508"/>
                  </a:cubicBezTo>
                  <a:lnTo>
                    <a:pt x="1049357" y="1403680"/>
                  </a:lnTo>
                  <a:cubicBezTo>
                    <a:pt x="1049357" y="1445934"/>
                    <a:pt x="1015103" y="1480188"/>
                    <a:pt x="972849" y="1480188"/>
                  </a:cubicBezTo>
                  <a:lnTo>
                    <a:pt x="76508" y="1480188"/>
                  </a:lnTo>
                  <a:cubicBezTo>
                    <a:pt x="56217" y="1480188"/>
                    <a:pt x="36757" y="1472127"/>
                    <a:pt x="22409" y="1457779"/>
                  </a:cubicBezTo>
                  <a:cubicBezTo>
                    <a:pt x="8061" y="1443431"/>
                    <a:pt x="0" y="1423971"/>
                    <a:pt x="0" y="1403680"/>
                  </a:cubicBezTo>
                  <a:lnTo>
                    <a:pt x="0" y="76508"/>
                  </a:lnTo>
                  <a:cubicBezTo>
                    <a:pt x="0" y="56217"/>
                    <a:pt x="8061" y="36757"/>
                    <a:pt x="22409" y="22409"/>
                  </a:cubicBezTo>
                  <a:cubicBezTo>
                    <a:pt x="36757" y="8061"/>
                    <a:pt x="56217" y="0"/>
                    <a:pt x="76508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endParaRPr lang="en-V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49357" cy="1527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50000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721716" y="723900"/>
            <a:ext cx="8889128" cy="14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9678" b="1">
                <a:solidFill>
                  <a:srgbClr val="67976C"/>
                </a:solidFill>
                <a:latin typeface="American Typewriter" panose="02090604020004020304" pitchFamily="18" charset="77"/>
                <a:ea typeface="Chewy"/>
                <a:cs typeface="Chewy"/>
                <a:sym typeface="Chewy"/>
              </a:rPr>
              <a:t>TỔNG QUAN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AB627E-EF72-ADA7-7078-67F6C68B9CD3}"/>
              </a:ext>
            </a:extLst>
          </p:cNvPr>
          <p:cNvSpPr txBox="1"/>
          <p:nvPr/>
        </p:nvSpPr>
        <p:spPr>
          <a:xfrm>
            <a:off x="1066799" y="3418463"/>
            <a:ext cx="16230601" cy="5693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Yêu cầu đề: Đề bài sẽ cho thí sinh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bất kì, mỗi chủ đề bao gồm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câu hỏi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Thí sinh sẽ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lần lượt trả lời các câu hỏi của 2 chủ đề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trong thời gian quy định. 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Thời gian thi: </a:t>
            </a:r>
            <a:r>
              <a:rPr lang="en-US" sz="40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 phút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4000" b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có thời gian chuẩn bị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US" sz="4000" b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Tự dành ra 30-40s để đọc nhanh 2 chủ đề 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en-US" sz="4000" b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Ưu tiên trả lời chủ đề dễ trước</a:t>
            </a:r>
            <a:r>
              <a:rPr lang="en-US" sz="400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VN" sz="40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4800" y="266700"/>
            <a:ext cx="17678400" cy="9667487"/>
            <a:chOff x="0" y="0"/>
            <a:chExt cx="3180061" cy="4413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0061" cy="441371"/>
            </a:xfrm>
            <a:custGeom>
              <a:avLst/>
              <a:gdLst/>
              <a:ahLst/>
              <a:cxnLst/>
              <a:rect l="l" t="t" r="r" b="b"/>
              <a:pathLst>
                <a:path w="3180061" h="441371">
                  <a:moveTo>
                    <a:pt x="32701" y="0"/>
                  </a:moveTo>
                  <a:lnTo>
                    <a:pt x="3147360" y="0"/>
                  </a:lnTo>
                  <a:cubicBezTo>
                    <a:pt x="3165420" y="0"/>
                    <a:pt x="3180061" y="14641"/>
                    <a:pt x="3180061" y="32701"/>
                  </a:cubicBezTo>
                  <a:lnTo>
                    <a:pt x="3180061" y="408670"/>
                  </a:lnTo>
                  <a:cubicBezTo>
                    <a:pt x="3180061" y="426730"/>
                    <a:pt x="3165420" y="441371"/>
                    <a:pt x="3147360" y="441371"/>
                  </a:cubicBezTo>
                  <a:lnTo>
                    <a:pt x="32701" y="441371"/>
                  </a:lnTo>
                  <a:cubicBezTo>
                    <a:pt x="14641" y="441371"/>
                    <a:pt x="0" y="426730"/>
                    <a:pt x="0" y="408670"/>
                  </a:cubicBezTo>
                  <a:lnTo>
                    <a:pt x="0" y="32701"/>
                  </a:lnTo>
                  <a:cubicBezTo>
                    <a:pt x="0" y="14641"/>
                    <a:pt x="14641" y="0"/>
                    <a:pt x="32701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180061" cy="4889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3F7EBD-34FA-C29A-8A09-3BAFF42299B8}"/>
              </a:ext>
            </a:extLst>
          </p:cNvPr>
          <p:cNvSpPr txBox="1"/>
          <p:nvPr/>
        </p:nvSpPr>
        <p:spPr>
          <a:xfrm>
            <a:off x="838200" y="571500"/>
            <a:ext cx="16611600" cy="9131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 DỤ MINH HOẠ: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leisure activities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 lot of spare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spend your free time?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leisure activities do people usually do in your hometown?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Let's talk about</a:t>
            </a:r>
            <a:r>
              <a:rPr lang="en-US" sz="36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hobbies</a:t>
            </a:r>
            <a:r>
              <a:rPr lang="en-US" sz="36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have any hobbies?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on your hobby?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lvl="1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36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it important to have a hobby in your life?</a:t>
            </a:r>
            <a:endParaRPr lang="en-VN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35989" y="364818"/>
            <a:ext cx="17571011" cy="9557363"/>
            <a:chOff x="0" y="0"/>
            <a:chExt cx="4274726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FAD53A-FE3F-9734-C63B-736F06A62CC6}"/>
              </a:ext>
            </a:extLst>
          </p:cNvPr>
          <p:cNvSpPr txBox="1"/>
          <p:nvPr/>
        </p:nvSpPr>
        <p:spPr>
          <a:xfrm>
            <a:off x="838200" y="1181036"/>
            <a:ext cx="16611600" cy="792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CÁCH DẪN DẮT CÂU TRẢ LỜI: 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bắt đầu chủ đề đầu tiên: </a:t>
            </a:r>
            <a:r>
              <a:rPr lang="en-VN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Let’s talk about the topic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[tên chủ đề]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Sau đó trả lời lần lượt trả lời 3 câu hỏi thuộc chủ đề đó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Không cần lặp lại câu hỏi trong lúc trả lời</a:t>
            </a: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 chuyển sang chủ đề thứ hai: 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Now I will continue with the topic 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tên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tục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VN" sz="4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[Number 1… Number 2… Number 3]</a:t>
            </a:r>
            <a:r>
              <a:rPr lang="en-US" sz="4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VN" sz="4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04800" y="285332"/>
            <a:ext cx="17678400" cy="9716336"/>
            <a:chOff x="0" y="0"/>
            <a:chExt cx="2045195" cy="13787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5195" cy="1378739"/>
            </a:xfrm>
            <a:custGeom>
              <a:avLst/>
              <a:gdLst/>
              <a:ahLst/>
              <a:cxnLst/>
              <a:rect l="l" t="t" r="r" b="b"/>
              <a:pathLst>
                <a:path w="2045195" h="1378739">
                  <a:moveTo>
                    <a:pt x="50846" y="0"/>
                  </a:moveTo>
                  <a:lnTo>
                    <a:pt x="1994349" y="0"/>
                  </a:lnTo>
                  <a:cubicBezTo>
                    <a:pt x="2007834" y="0"/>
                    <a:pt x="2020767" y="5357"/>
                    <a:pt x="2030302" y="14892"/>
                  </a:cubicBezTo>
                  <a:cubicBezTo>
                    <a:pt x="2039838" y="24428"/>
                    <a:pt x="2045195" y="37361"/>
                    <a:pt x="2045195" y="50846"/>
                  </a:cubicBezTo>
                  <a:lnTo>
                    <a:pt x="2045195" y="1327893"/>
                  </a:lnTo>
                  <a:cubicBezTo>
                    <a:pt x="2045195" y="1341378"/>
                    <a:pt x="2039838" y="1354311"/>
                    <a:pt x="2030302" y="1363847"/>
                  </a:cubicBezTo>
                  <a:cubicBezTo>
                    <a:pt x="2020767" y="1373382"/>
                    <a:pt x="2007834" y="1378739"/>
                    <a:pt x="1994349" y="1378739"/>
                  </a:cubicBezTo>
                  <a:lnTo>
                    <a:pt x="50846" y="1378739"/>
                  </a:lnTo>
                  <a:cubicBezTo>
                    <a:pt x="37361" y="1378739"/>
                    <a:pt x="24428" y="1373382"/>
                    <a:pt x="14892" y="1363847"/>
                  </a:cubicBezTo>
                  <a:cubicBezTo>
                    <a:pt x="5357" y="1354311"/>
                    <a:pt x="0" y="1341378"/>
                    <a:pt x="0" y="1327893"/>
                  </a:cubicBezTo>
                  <a:lnTo>
                    <a:pt x="0" y="50846"/>
                  </a:lnTo>
                  <a:cubicBezTo>
                    <a:pt x="0" y="37361"/>
                    <a:pt x="5357" y="24428"/>
                    <a:pt x="14892" y="14892"/>
                  </a:cubicBezTo>
                  <a:cubicBezTo>
                    <a:pt x="24428" y="5357"/>
                    <a:pt x="37361" y="0"/>
                    <a:pt x="50846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045195" cy="142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9400CAD-4C1D-B26A-CFD2-BF36662A768D}"/>
              </a:ext>
            </a:extLst>
          </p:cNvPr>
          <p:cNvSpPr txBox="1"/>
          <p:nvPr/>
        </p:nvSpPr>
        <p:spPr>
          <a:xfrm>
            <a:off x="839229" y="1181100"/>
            <a:ext cx="16459200" cy="7748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4472C4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TYPES OF QUESTIONS: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5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There are 03 main types of questions in VSTEP SPEAKING PART 01: </a:t>
            </a:r>
            <a:endParaRPr lang="en-VN" sz="5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Yes/No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Choice 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lvl="1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VN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Wh-questions</a:t>
            </a:r>
            <a:endParaRPr lang="en-VN" sz="5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28600" y="103593"/>
            <a:ext cx="17830800" cy="9764307"/>
            <a:chOff x="0" y="-47625"/>
            <a:chExt cx="4274726" cy="1405798"/>
          </a:xfrm>
        </p:grpSpPr>
        <p:sp>
          <p:nvSpPr>
            <p:cNvPr id="7" name="Freeform 7"/>
            <p:cNvSpPr/>
            <p:nvPr/>
          </p:nvSpPr>
          <p:spPr>
            <a:xfrm>
              <a:off x="19950" y="-11502"/>
              <a:ext cx="4234826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45B50B-571E-081E-1E85-5D5D4F6F5012}"/>
              </a:ext>
            </a:extLst>
          </p:cNvPr>
          <p:cNvSpPr txBox="1"/>
          <p:nvPr/>
        </p:nvSpPr>
        <p:spPr>
          <a:xfrm>
            <a:off x="568651" y="1259886"/>
            <a:ext cx="17150698" cy="745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I. YES/NO QUESTIONS</a:t>
            </a:r>
            <a:endParaRPr lang="en-VN" sz="6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often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any hobbies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abroad?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E893D-DF9D-8F48-7096-D50ADA4B633A}"/>
              </a:ext>
            </a:extLst>
          </p:cNvPr>
          <p:cNvSpPr txBox="1"/>
          <p:nvPr/>
        </p:nvSpPr>
        <p:spPr>
          <a:xfrm>
            <a:off x="12948302" y="3238500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do/does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3BB71-D677-F0E9-901E-7339EA554575}"/>
              </a:ext>
            </a:extLst>
          </p:cNvPr>
          <p:cNvSpPr txBox="1"/>
          <p:nvPr/>
        </p:nvSpPr>
        <p:spPr>
          <a:xfrm>
            <a:off x="12948302" y="4334528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did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84EE7A-B466-80B2-C454-69EF7E9E08F6}"/>
              </a:ext>
            </a:extLst>
          </p:cNvPr>
          <p:cNvSpPr txBox="1"/>
          <p:nvPr/>
        </p:nvSpPr>
        <p:spPr>
          <a:xfrm>
            <a:off x="12948302" y="5438839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HTHT: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have/has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715EDE-B2B9-C797-90D5-586446A0220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1970416" y="4784909"/>
            <a:ext cx="977886" cy="10078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DF7021-5B8B-DA32-2093-8F0452278418}"/>
              </a:ext>
            </a:extLst>
          </p:cNvPr>
          <p:cNvCxnSpPr>
            <a:cxnSpLocks/>
          </p:cNvCxnSpPr>
          <p:nvPr/>
        </p:nvCxnSpPr>
        <p:spPr>
          <a:xfrm flipV="1">
            <a:off x="11970416" y="3742327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F9A662-F0DE-9C6D-D4C3-726C018F6683}"/>
              </a:ext>
            </a:extLst>
          </p:cNvPr>
          <p:cNvCxnSpPr>
            <a:cxnSpLocks/>
          </p:cNvCxnSpPr>
          <p:nvPr/>
        </p:nvCxnSpPr>
        <p:spPr>
          <a:xfrm>
            <a:off x="11949941" y="4763313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B6E43-0A1C-67C4-B554-E18A650B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3F29000-0F68-9CA8-D168-584021692F2E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93B4988-148F-F3EA-0AD6-834ED23F433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9DB80B7-6566-A33E-8648-182DBF90BE4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8F2B420-FCF2-3005-F66D-A77A381615F7}"/>
              </a:ext>
            </a:extLst>
          </p:cNvPr>
          <p:cNvSpPr txBox="1"/>
          <p:nvPr/>
        </p:nvSpPr>
        <p:spPr>
          <a:xfrm>
            <a:off x="644851" y="1648472"/>
            <a:ext cx="16998298" cy="699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bắt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tobe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VN" sz="4500" b="1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interested in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sports?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reading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you? 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đầu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khiếm</a:t>
            </a:r>
            <a:r>
              <a:rPr lang="en-US" sz="4500" b="1" u="sng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u="sng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khuyết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: 	</a:t>
            </a:r>
          </a:p>
          <a:p>
            <a:pPr lvl="2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Ex: 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Can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introduce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yourself?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US" sz="4500" b="1" i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Should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students 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soft skills </a:t>
            </a:r>
            <a:r>
              <a:rPr lang="en-US" sz="4500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school?</a:t>
            </a:r>
            <a:endParaRPr lang="en-VN" sz="4500" i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79F26-B3A5-B2F2-E8B7-2EDF38786E6C}"/>
              </a:ext>
            </a:extLst>
          </p:cNvPr>
          <p:cNvSpPr txBox="1"/>
          <p:nvPr/>
        </p:nvSpPr>
        <p:spPr>
          <a:xfrm>
            <a:off x="13347988" y="870239"/>
            <a:ext cx="4559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HTĐ: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am/is/are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EC5714-3CF1-C3FB-CA26-E0F4AD637E30}"/>
              </a:ext>
            </a:extLst>
          </p:cNvPr>
          <p:cNvSpPr txBox="1"/>
          <p:nvPr/>
        </p:nvSpPr>
        <p:spPr>
          <a:xfrm>
            <a:off x="13347988" y="1966267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rgbClr val="00B0F0"/>
                </a:solidFill>
                <a:latin typeface="American Typewriter" panose="02090604020004020304" pitchFamily="18" charset="77"/>
              </a:rPr>
              <a:t>QKĐ: </a:t>
            </a:r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was/were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37D121-11D4-EFF9-25CF-9E3879C2703E}"/>
              </a:ext>
            </a:extLst>
          </p:cNvPr>
          <p:cNvCxnSpPr>
            <a:cxnSpLocks/>
          </p:cNvCxnSpPr>
          <p:nvPr/>
        </p:nvCxnSpPr>
        <p:spPr>
          <a:xfrm flipV="1">
            <a:off x="12370102" y="1374066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2D1911-397A-72EC-243A-36361F72644E}"/>
              </a:ext>
            </a:extLst>
          </p:cNvPr>
          <p:cNvCxnSpPr>
            <a:cxnSpLocks/>
          </p:cNvCxnSpPr>
          <p:nvPr/>
        </p:nvCxnSpPr>
        <p:spPr>
          <a:xfrm>
            <a:off x="12349627" y="2395052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0EE666-24C8-BF07-1EEE-1F6A93D13292}"/>
              </a:ext>
            </a:extLst>
          </p:cNvPr>
          <p:cNvSpPr txBox="1"/>
          <p:nvPr/>
        </p:nvSpPr>
        <p:spPr>
          <a:xfrm>
            <a:off x="13573423" y="3693528"/>
            <a:ext cx="4069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can, will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BB5A9F-B175-4326-0BC4-9B7344D2350B}"/>
              </a:ext>
            </a:extLst>
          </p:cNvPr>
          <p:cNvSpPr txBox="1"/>
          <p:nvPr/>
        </p:nvSpPr>
        <p:spPr>
          <a:xfrm>
            <a:off x="13573423" y="4789556"/>
            <a:ext cx="5111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4000" b="1">
                <a:solidFill>
                  <a:schemeClr val="accent6"/>
                </a:solidFill>
                <a:latin typeface="American Typewriter" panose="02090604020004020304" pitchFamily="18" charset="77"/>
              </a:rPr>
              <a:t>should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66A3CF6-7226-24FA-C021-9419F189AFD2}"/>
              </a:ext>
            </a:extLst>
          </p:cNvPr>
          <p:cNvCxnSpPr>
            <a:cxnSpLocks/>
          </p:cNvCxnSpPr>
          <p:nvPr/>
        </p:nvCxnSpPr>
        <p:spPr>
          <a:xfrm flipV="1">
            <a:off x="12595537" y="4197355"/>
            <a:ext cx="936937" cy="102098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8F74CE5-373B-021A-6A7C-605A23E9E259}"/>
              </a:ext>
            </a:extLst>
          </p:cNvPr>
          <p:cNvCxnSpPr>
            <a:cxnSpLocks/>
          </p:cNvCxnSpPr>
          <p:nvPr/>
        </p:nvCxnSpPr>
        <p:spPr>
          <a:xfrm>
            <a:off x="12575062" y="5218341"/>
            <a:ext cx="998361" cy="2159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56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C545A6-F72E-FE30-A797-3AA85E73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9E3C55EA-CA83-1EBA-3ADB-E2710E8D5B66}"/>
              </a:ext>
            </a:extLst>
          </p:cNvPr>
          <p:cNvGrpSpPr/>
          <p:nvPr/>
        </p:nvGrpSpPr>
        <p:grpSpPr>
          <a:xfrm>
            <a:off x="228600" y="103592"/>
            <a:ext cx="17830800" cy="9764308"/>
            <a:chOff x="0" y="-47625"/>
            <a:chExt cx="4274726" cy="140579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72586E-8BC6-EC9F-0CBF-529689EA66A9}"/>
                </a:ext>
              </a:extLst>
            </p:cNvPr>
            <p:cNvSpPr/>
            <p:nvPr/>
          </p:nvSpPr>
          <p:spPr>
            <a:xfrm>
              <a:off x="18268" y="-11502"/>
              <a:ext cx="4256458" cy="1369675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40676BA-028B-B945-50F0-1E11E1050DF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865BB69-CC9C-C413-3179-B0F985508D8B}"/>
              </a:ext>
            </a:extLst>
          </p:cNvPr>
          <p:cNvSpPr txBox="1"/>
          <p:nvPr/>
        </p:nvSpPr>
        <p:spPr>
          <a:xfrm>
            <a:off x="876300" y="1383444"/>
            <a:ext cx="16535399" cy="745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5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lvl="0" indent="-5715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trực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tiếp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(Yes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YES,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vì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sao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NO)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luận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VN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 </a:t>
            </a:r>
            <a:endParaRPr lang="en-VN" sz="5000" b="1" dirty="0">
              <a:solidFill>
                <a:srgbClr val="FF0000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0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A52BD1-9DC5-5B75-A574-CE0B285AB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195134"/>
              </p:ext>
            </p:extLst>
          </p:nvPr>
        </p:nvGraphicFramePr>
        <p:xfrm>
          <a:off x="304800" y="234197"/>
          <a:ext cx="17713960" cy="9815345"/>
        </p:xfrm>
        <a:graphic>
          <a:graphicData uri="http://schemas.openxmlformats.org/drawingml/2006/table">
            <a:tbl>
              <a:tblPr firstRow="1" firstCol="1" bandRow="1"/>
              <a:tblGrid>
                <a:gridCol w="2397760">
                  <a:extLst>
                    <a:ext uri="{9D8B030D-6E8A-4147-A177-3AD203B41FA5}">
                      <a16:colId xmlns:a16="http://schemas.microsoft.com/office/drawing/2014/main" val="200589755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3064787222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486366243"/>
                    </a:ext>
                  </a:extLst>
                </a:gridCol>
              </a:tblGrid>
              <a:tr h="8707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 dirty="0"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VN" sz="35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500" b="1" kern="10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VN" sz="35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328247"/>
                  </a:ext>
                </a:extLst>
              </a:tr>
              <a:tr h="526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BASIC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571500" marR="0" lvl="0" indent="-5715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often play sports?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I do.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Yes,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[trợ động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VN" sz="3200" b="1" kern="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 tobe]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No, </a:t>
                      </a:r>
                      <a:r>
                        <a:rPr lang="en-VN" sz="3200" b="1" kern="100" dirty="0">
                          <a:solidFill>
                            <a:schemeClr val="accent5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[chủ từ]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VN" sz="3200" b="1" kern="100" dirty="0">
                          <a:solidFill>
                            <a:schemeClr val="accent4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[ĐTKK] 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lang="en-VN" sz="3200" b="1" kern="100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571500" lvl="0" indent="-5715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Do you like reading?</a:t>
                      </a:r>
                    </a:p>
                    <a:p>
                      <a:pPr marL="0" lvl="0" indent="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None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I don’t. [Nội dung đáp án].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No,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67177"/>
                  </a:ext>
                </a:extLst>
              </a:tr>
              <a:tr h="368275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UPGRADE</a:t>
                      </a:r>
                      <a:endParaRPr lang="en-VN" sz="3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Certainly.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Sure.</a:t>
                      </a: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Ø"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Have you ever traveled abroad?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Sure.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vi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ot really.</a:t>
                      </a:r>
                      <a:endParaRPr lang="en-VN" sz="32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lvl="0" indent="-4572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itchFamily="2" charset="2"/>
                        <a:buChar char="§"/>
                      </a:pPr>
                      <a:r>
                        <a:rPr lang="en-VN" sz="3200" b="1" kern="100" dirty="0">
                          <a:solidFill>
                            <a:srgbClr val="00000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 don’t think so.</a:t>
                      </a:r>
                      <a:endParaRPr lang="en-VN" sz="3200" b="1" kern="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457200" marR="0" lvl="0" indent="-45720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VN" sz="3200" b="1" kern="100" dirty="0">
                          <a:solidFill>
                            <a:srgbClr val="00B050"/>
                          </a:solidFill>
                          <a:effectLst/>
                          <a:latin typeface="American Typewriter" panose="02090604020004020304" pitchFamily="18" charset="77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Should children use social media?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VN" sz="3200" b="1" dirty="0">
                          <a:solidFill>
                            <a:srgbClr val="FF0000"/>
                          </a:solidFill>
                          <a:latin typeface="American Typewriter" panose="02090604020004020304" pitchFamily="18" charset="77"/>
                        </a:rPr>
                        <a:t>➝ Not really. [Nội dung đáp án].</a:t>
                      </a:r>
                      <a:endParaRPr lang="en-VN" sz="3200" kern="100" dirty="0">
                        <a:solidFill>
                          <a:srgbClr val="000000"/>
                        </a:solidFill>
                        <a:effectLst/>
                        <a:latin typeface="American Typewriter" panose="02090604020004020304" pitchFamily="18" charset="77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153519"/>
                  </a:ext>
                </a:extLst>
              </a:tr>
            </a:tbl>
          </a:graphicData>
        </a:graphic>
      </p:graphicFrame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221A172-A721-F183-A4C2-4C5C7D7C3121}"/>
              </a:ext>
            </a:extLst>
          </p:cNvPr>
          <p:cNvSpPr/>
          <p:nvPr/>
        </p:nvSpPr>
        <p:spPr>
          <a:xfrm>
            <a:off x="2667000" y="5600700"/>
            <a:ext cx="55626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C34E5D-BEA6-31E0-8691-9EED23576FC5}"/>
              </a:ext>
            </a:extLst>
          </p:cNvPr>
          <p:cNvSpPr/>
          <p:nvPr/>
        </p:nvSpPr>
        <p:spPr>
          <a:xfrm>
            <a:off x="9982200" y="5524500"/>
            <a:ext cx="5410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EC32F2A-9E59-C4DD-4A51-0DD25820023C}"/>
              </a:ext>
            </a:extLst>
          </p:cNvPr>
          <p:cNvSpPr/>
          <p:nvPr/>
        </p:nvSpPr>
        <p:spPr>
          <a:xfrm>
            <a:off x="2667000" y="9105900"/>
            <a:ext cx="5791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CD12428-3615-156F-4350-80D4DC3B3E1C}"/>
              </a:ext>
            </a:extLst>
          </p:cNvPr>
          <p:cNvSpPr/>
          <p:nvPr/>
        </p:nvSpPr>
        <p:spPr>
          <a:xfrm>
            <a:off x="9982200" y="9105900"/>
            <a:ext cx="6934200" cy="762000"/>
          </a:xfrm>
          <a:prstGeom prst="roundRect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55985" y="3604617"/>
            <a:ext cx="15376023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YES/NO THƯỜNG GẶP</a:t>
            </a:r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88B3643B-9385-2295-5A4F-ECA5E1345407}"/>
              </a:ext>
            </a:extLst>
          </p:cNvPr>
          <p:cNvSpPr/>
          <p:nvPr/>
        </p:nvSpPr>
        <p:spPr>
          <a:xfrm>
            <a:off x="8610600" y="940131"/>
            <a:ext cx="2913846" cy="1948634"/>
          </a:xfrm>
          <a:custGeom>
            <a:avLst/>
            <a:gdLst/>
            <a:ahLst/>
            <a:cxnLst/>
            <a:rect l="l" t="t" r="r" b="b"/>
            <a:pathLst>
              <a:path w="2913846" h="1948634">
                <a:moveTo>
                  <a:pt x="0" y="0"/>
                </a:moveTo>
                <a:lnTo>
                  <a:pt x="2913845" y="0"/>
                </a:lnTo>
                <a:lnTo>
                  <a:pt x="2913845" y="1948634"/>
                </a:lnTo>
                <a:lnTo>
                  <a:pt x="0" y="1948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3" name="Freeform 10">
            <a:extLst>
              <a:ext uri="{FF2B5EF4-FFF2-40B4-BE49-F238E27FC236}">
                <a16:creationId xmlns:a16="http://schemas.microsoft.com/office/drawing/2014/main" id="{8D33CBC2-7E6E-8ACB-126B-E0C4F1B9DD51}"/>
              </a:ext>
            </a:extLst>
          </p:cNvPr>
          <p:cNvSpPr/>
          <p:nvPr/>
        </p:nvSpPr>
        <p:spPr>
          <a:xfrm>
            <a:off x="0" y="8783967"/>
            <a:ext cx="4365042" cy="1645984"/>
          </a:xfrm>
          <a:custGeom>
            <a:avLst/>
            <a:gdLst/>
            <a:ahLst/>
            <a:cxnLst/>
            <a:rect l="l" t="t" r="r" b="b"/>
            <a:pathLst>
              <a:path w="4365042" h="1645984">
                <a:moveTo>
                  <a:pt x="0" y="0"/>
                </a:moveTo>
                <a:lnTo>
                  <a:pt x="4365042" y="0"/>
                </a:lnTo>
                <a:lnTo>
                  <a:pt x="4365042" y="1645985"/>
                </a:lnTo>
                <a:lnTo>
                  <a:pt x="0" y="1645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0BE97C55-1013-EBFB-C2CC-D4AFF2ED4605}"/>
              </a:ext>
            </a:extLst>
          </p:cNvPr>
          <p:cNvSpPr/>
          <p:nvPr/>
        </p:nvSpPr>
        <p:spPr>
          <a:xfrm>
            <a:off x="16556355" y="8372552"/>
            <a:ext cx="1405890" cy="2057400"/>
          </a:xfrm>
          <a:custGeom>
            <a:avLst/>
            <a:gdLst/>
            <a:ahLst/>
            <a:cxnLst/>
            <a:rect l="l" t="t" r="r" b="b"/>
            <a:pathLst>
              <a:path w="1405890" h="2057400">
                <a:moveTo>
                  <a:pt x="0" y="0"/>
                </a:moveTo>
                <a:lnTo>
                  <a:pt x="1405890" y="0"/>
                </a:lnTo>
                <a:lnTo>
                  <a:pt x="140589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V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8187E-12BE-B961-E3CC-1C290B9E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64C3FB5-F2CF-C236-F54A-83834C66EF5C}"/>
              </a:ext>
            </a:extLst>
          </p:cNvPr>
          <p:cNvGrpSpPr/>
          <p:nvPr/>
        </p:nvGrpSpPr>
        <p:grpSpPr>
          <a:xfrm>
            <a:off x="304800" y="103592"/>
            <a:ext cx="17678400" cy="9840507"/>
            <a:chOff x="0" y="-47625"/>
            <a:chExt cx="4274726" cy="1405798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9300106-56FE-7432-A110-011B27204A40}"/>
                </a:ext>
              </a:extLst>
            </p:cNvPr>
            <p:cNvSpPr/>
            <p:nvPr/>
          </p:nvSpPr>
          <p:spPr>
            <a:xfrm>
              <a:off x="0" y="-13438"/>
              <a:ext cx="4274726" cy="1371611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F6AB408B-DD0D-9B11-85B4-875B845CCF7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997C253-9499-D64B-9363-0EAF599CC497}"/>
              </a:ext>
            </a:extLst>
          </p:cNvPr>
          <p:cNvSpPr txBox="1"/>
          <p:nvPr/>
        </p:nvSpPr>
        <p:spPr>
          <a:xfrm>
            <a:off x="800100" y="1057366"/>
            <a:ext cx="16687800" cy="81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Do you often 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5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45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for a walk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0556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239F5-01A1-5E09-71BA-5AB3061F4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30BF0E9-8C3B-206D-9659-CE94FB4F40DE}"/>
              </a:ext>
            </a:extLst>
          </p:cNvPr>
          <p:cNvGrpSpPr/>
          <p:nvPr/>
        </p:nvGrpSpPr>
        <p:grpSpPr>
          <a:xfrm>
            <a:off x="304800" y="2667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AC1B1D7-A752-D374-6290-F6FBEDF0EB0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374438C-C056-2793-F931-D3B058A5134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3965A6-4383-6FE8-1C1D-0D953C54BA34}"/>
              </a:ext>
            </a:extLst>
          </p:cNvPr>
          <p:cNvSpPr txBox="1"/>
          <p:nvPr/>
        </p:nvSpPr>
        <p:spPr>
          <a:xfrm>
            <a:off x="800100" y="2337164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whenever I have free time. It allows me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5614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9B4C4E-3078-EE1B-4CFE-FCBCC129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64A5BB8-2935-AB56-3E94-56BC55E2E4C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9E2B17-CD8F-024D-6CC4-027593DB75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0258086-D4A2-00F9-0D6F-46140B27AE3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8318B56-0A51-B444-052A-AD9333CF5D6D}"/>
              </a:ext>
            </a:extLst>
          </p:cNvPr>
          <p:cNvSpPr txBox="1"/>
          <p:nvPr/>
        </p:nvSpPr>
        <p:spPr>
          <a:xfrm>
            <a:off x="800100" y="1783068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4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afternoon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whenever I have free time. It allows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 busy day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4176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D6AC8-7301-BBC8-4EFD-3E1F3AC0E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58FE4A4-4506-5132-7209-F6F129AE6935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36E1D52-B71D-EDF5-A0AB-CF8CA3097A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AFB723C-F04D-52DA-4685-A03DF410D9B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4E651EB-2740-61C1-A476-A37A08DEB072}"/>
              </a:ext>
            </a:extLst>
          </p:cNvPr>
          <p:cNvSpPr txBox="1"/>
          <p:nvPr/>
        </p:nvSpPr>
        <p:spPr>
          <a:xfrm>
            <a:off x="800100" y="1057366"/>
            <a:ext cx="16687800" cy="816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4800" b="1" baseline="-25000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 dirty="0">
                <a:solidFill>
                  <a:schemeClr val="accent6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homework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the radio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kumimoji="0" lang="en-US" sz="4500" b="1" i="1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podcasts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videos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eating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0842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6FB8B-4BF8-ABEB-40CF-1E3971A6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D0F3CD0-8208-440A-A52D-B323667883E8}"/>
              </a:ext>
            </a:extLst>
          </p:cNvPr>
          <p:cNvGrpSpPr/>
          <p:nvPr/>
        </p:nvGrpSpPr>
        <p:grpSpPr>
          <a:xfrm>
            <a:off x="304800" y="342900"/>
            <a:ext cx="17678400" cy="96012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4CEE5702-9F05-8CA7-9E17-560EB8A5223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4165297-7BC5-8E2B-49EA-16C7693A7F3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EFF10C3-3EC6-AB26-84B7-C8CC63CB8164}"/>
              </a:ext>
            </a:extLst>
          </p:cNvPr>
          <p:cNvSpPr txBox="1"/>
          <p:nvPr/>
        </p:nvSpPr>
        <p:spPr>
          <a:xfrm>
            <a:off x="800100" y="1057958"/>
            <a:ext cx="16687800" cy="8171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 don’t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5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 – V</a:t>
            </a:r>
            <a:r>
              <a:rPr lang="en-US" sz="5000" b="1" baseline="-25000" noProof="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kumimoji="0" lang="en-US" sz="5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 – V</a:t>
            </a:r>
            <a:r>
              <a:rPr lang="en-US" sz="5000" b="1" baseline="-250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I find it difficult to concentrate. Instead, I prefer to focus on one task at a time so that I can </a:t>
            </a: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give it my full attention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complete it more effectively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/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more carefully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423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5CD1-7585-9A47-8034-5F38F8BF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A70C657-2E68-5A15-EB92-50431046A97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360CF00-6ABA-D9FC-D58F-665BA3B15E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B2B4798-BC0F-F535-E717-1B1B2497D27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5E7F65B-4E32-1F43-B430-E4847486C092}"/>
              </a:ext>
            </a:extLst>
          </p:cNvPr>
          <p:cNvSpPr txBox="1"/>
          <p:nvPr/>
        </p:nvSpPr>
        <p:spPr>
          <a:xfrm>
            <a:off x="800100" y="1255168"/>
            <a:ext cx="16687799" cy="7532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your homework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 LEVEL: </a:t>
            </a:r>
            <a:r>
              <a:rPr lang="en-US" sz="48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don’t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while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my homework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it’s hard for me to focus. I prefer to do one thing at a time to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it better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804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6F3F0-2A84-DD24-EC62-C70FDCD4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C89BAAEC-7E5E-2A07-6C03-973CF83FD6E4}"/>
              </a:ext>
            </a:extLst>
          </p:cNvPr>
          <p:cNvGrpSpPr/>
          <p:nvPr/>
        </p:nvGrpSpPr>
        <p:grpSpPr>
          <a:xfrm>
            <a:off x="304800" y="266700"/>
            <a:ext cx="17678400" cy="97536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C72FA3C-1104-94E2-0FCB-2AE90A93AE4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B13203-1009-E478-C812-C136A7229DF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2A6F23-32E2-ADEE-6421-C532223FCC15}"/>
              </a:ext>
            </a:extLst>
          </p:cNvPr>
          <p:cNvSpPr txBox="1"/>
          <p:nvPr/>
        </p:nvSpPr>
        <p:spPr>
          <a:xfrm>
            <a:off x="800100" y="1057366"/>
            <a:ext cx="16687800" cy="825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800" b="1">
                <a:solidFill>
                  <a:schemeClr val="accent2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like/love/enjoy 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[hoạt động – V</a:t>
            </a:r>
            <a:r>
              <a:rPr lang="en-US" sz="4800" b="1" baseline="-2500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4800" b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800" b="1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450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musical instruments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like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hanging out with your friends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love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doing volunteer work</a:t>
            </a:r>
            <a:r>
              <a:rPr lang="en-US" sz="4500" b="1" i="1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6350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8F8A9-2288-FE2B-FE24-0913C58A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14CC8CD-89B0-20A5-76C2-C5174DFA87D6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50A144F-654B-C9D6-8A04-93E20300EA4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AC0A639-0A57-0761-E4F0-7D1EB5211B4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91743E-F730-E8C9-A229-615F03684935}"/>
              </a:ext>
            </a:extLst>
          </p:cNvPr>
          <p:cNvSpPr txBox="1"/>
          <p:nvPr/>
        </p:nvSpPr>
        <p:spPr>
          <a:xfrm>
            <a:off x="800100" y="1987091"/>
            <a:ext cx="16687800" cy="6312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find it 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It’s a good way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23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D2659-F782-C025-BB6E-8E189DD21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058CE6C-3120-2A87-DBE4-94C5BC5BC3DB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2EE136-E45C-E17A-7103-34C09D396DE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37FC96C-F958-34CA-8376-7C683903F61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944B51-5E17-3015-DC87-FAA0E5C901D6}"/>
              </a:ext>
            </a:extLst>
          </p:cNvPr>
          <p:cNvSpPr txBox="1"/>
          <p:nvPr/>
        </p:nvSpPr>
        <p:spPr>
          <a:xfrm>
            <a:off x="800100" y="1832249"/>
            <a:ext cx="16687799" cy="637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8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4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 LEVEL: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do. I’m really into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 find it very </a:t>
            </a:r>
            <a:r>
              <a:rPr lang="en-US" sz="5000" b="1" dirty="0">
                <a:solidFill>
                  <a:srgbClr val="92D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interesting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It’s a good way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clear my mind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widen my knowledge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215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1CB4DA-7624-1D11-A0E0-DCF74A8A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CE3C1F3-D908-AEC2-7A2F-6732FEE5963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4C20EB1F-CC67-06DB-7A3E-D5CE1AB1C38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29BDA4B-1A67-89C4-4B50-4C0B7BBD54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0A6C61-8745-30A4-9FC7-57D81B80FC1F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4. Did you often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500" b="1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4500" dirty="0">
              <a:highlight>
                <a:srgbClr val="FFFF00"/>
              </a:highlight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outside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TV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ride a bike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</a:p>
        </p:txBody>
      </p:sp>
    </p:spTree>
    <p:extLst>
      <p:ext uri="{BB962C8B-B14F-4D97-AF65-F5344CB8AC3E}">
        <p14:creationId xmlns:p14="http://schemas.microsoft.com/office/powerpoint/2010/main" val="15820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36A30-86F3-1AD7-AC7D-F0757D79E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275E665-5DA3-81B8-A430-EEFC2EB391D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9D432DE-F191-E0EC-633F-C1CD6AD9A1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BCA0792-17F1-3803-206E-8269B23F8C8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E3507E-ECCC-950A-D9A4-EEFF6B65287F}"/>
              </a:ext>
            </a:extLst>
          </p:cNvPr>
          <p:cNvSpPr txBox="1"/>
          <p:nvPr/>
        </p:nvSpPr>
        <p:spPr>
          <a:xfrm>
            <a:off x="800100" y="1987091"/>
            <a:ext cx="16687800" cy="6306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 used to 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5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5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sz="5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I was a child because I found it 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5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027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8DD17-6D67-4D98-8F7A-7F40ED3E9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189E67BC-893F-6149-F95C-E555F599B1E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9AA7EB6-F3A9-6618-DC6B-F52C0533178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BC0AF7-06B3-F55D-051A-04E7E495A0F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22D3CF-F2EE-DAF1-BDE3-3D083DCF1A15}"/>
              </a:ext>
            </a:extLst>
          </p:cNvPr>
          <p:cNvSpPr txBox="1"/>
          <p:nvPr/>
        </p:nvSpPr>
        <p:spPr>
          <a:xfrm>
            <a:off x="800100" y="678087"/>
            <a:ext cx="16687799" cy="858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6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lang="en-VN" sz="6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Did you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were a child?</a:t>
            </a:r>
            <a:endParaRPr lang="en-VN" sz="5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 used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cartoons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when I was a child because I found it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entertaining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my free time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develop my imagination</a:t>
            </a:r>
            <a:r>
              <a:rPr lang="en-US" sz="50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211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1E995A-4850-14D1-2ECA-D417041A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463A51B-9426-BDDF-BC6E-D27B9821095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23D30DA5-E8CF-9DB2-5AE8-371B0F9C9D9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492EDAB-FA35-9E5B-3C6A-62DE7EEF30F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14CB459-3854-1BE6-C9E1-088B330E8517}"/>
              </a:ext>
            </a:extLst>
          </p:cNvPr>
          <p:cNvSpPr txBox="1"/>
          <p:nvPr/>
        </p:nvSpPr>
        <p:spPr>
          <a:xfrm>
            <a:off x="800100" y="16477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noProof="0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Are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good at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 err="1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speaking English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computers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971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EA9BFA-138F-4239-14A5-348DAC94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372D892-8345-8262-1326-5CEEE7EC339A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F71FAE4-5C44-E9AF-8D1B-095A9A00067E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B9AE986-5808-1E73-82AF-DB7CC1F7507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473008-5260-E7E0-9397-43B682A7EB7A}"/>
              </a:ext>
            </a:extLst>
          </p:cNvPr>
          <p:cNvSpPr txBox="1"/>
          <p:nvPr/>
        </p:nvSpPr>
        <p:spPr>
          <a:xfrm>
            <a:off x="800100" y="327992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I'm quite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I’ve practiced it for a long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allows me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I'm not very good at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don't have much experience with 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However, I'm trying to improve by practicing more regularly.</a:t>
            </a:r>
          </a:p>
        </p:txBody>
      </p:sp>
    </p:spTree>
    <p:extLst>
      <p:ext uri="{BB962C8B-B14F-4D97-AF65-F5344CB8AC3E}">
        <p14:creationId xmlns:p14="http://schemas.microsoft.com/office/powerpoint/2010/main" val="58330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5658A-F479-E320-64E5-017E586BA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58538A-7DC8-AFA3-F2F4-7A3D6A797728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FE38AC-FF6D-A595-AF51-1BEAF08CF94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8149E97-C0B1-0ED8-763C-88E2903EA62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97CEA8-8C37-8D47-9DD5-1F937B49D185}"/>
              </a:ext>
            </a:extLst>
          </p:cNvPr>
          <p:cNvSpPr txBox="1"/>
          <p:nvPr/>
        </p:nvSpPr>
        <p:spPr>
          <a:xfrm>
            <a:off x="800100" y="999008"/>
            <a:ext cx="16687799" cy="7946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you good at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I’m quite good at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I've practiced it for a long time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helps me </a:t>
            </a:r>
            <a:r>
              <a:rPr lang="en-US" sz="4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save money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45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 I’m not very good at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cooking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because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don't have much experience with it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However, I'm trying to improve by practicing more regularly.</a:t>
            </a:r>
          </a:p>
        </p:txBody>
      </p:sp>
    </p:spTree>
    <p:extLst>
      <p:ext uri="{BB962C8B-B14F-4D97-AF65-F5344CB8AC3E}">
        <p14:creationId xmlns:p14="http://schemas.microsoft.com/office/powerpoint/2010/main" val="186819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3432D-6346-21AE-3EF4-244F9FD4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EE6FBB5-8DFD-3EF6-EE3B-DB5B2E3ECDBD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0134683-51CD-574D-DE7F-6D6A186E0EA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27F6A45-FE1F-CE65-33BA-B71E8D0CB91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AAA4DD3-CAF3-3C9B-CC80-641170665368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6. Are/Is 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…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music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hobbies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important to you?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soft skills 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US" sz="4500" b="1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55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71AC2-9D0C-1004-7458-60CF1CA3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287F9BE-813B-0D5B-3B0B-A9CE61A042F3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ADAC02C-EAC3-8B8B-8A7A-4FF727634C4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449C51-58C2-A7BA-342C-59C1740975C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C1895FA-94F0-4C2F-68E8-F2F396D3828A}"/>
              </a:ext>
            </a:extLst>
          </p:cNvPr>
          <p:cNvSpPr txBox="1"/>
          <p:nvPr/>
        </p:nvSpPr>
        <p:spPr>
          <a:xfrm>
            <a:off x="800100" y="342901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definitely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</a:t>
            </a:r>
            <a:r>
              <a:rPr lang="en-US" sz="50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allows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also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gives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really. 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 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isn’t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very important to me because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it doesn't play a big role in my daily life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Instead, I prefer to spend my time on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/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chủ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khác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5000" b="1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0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040D0-0D23-A5F2-6D03-B62BC194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B25F8F4-62DA-9DC3-F7E4-F0BC22C492B7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F5CB0BE-77E4-D632-AA54-557EA84F01F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0A7A94-3C00-1C16-ACDC-7F6C7129E370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4FCA1F-D9CF-D220-A40C-9AF4367971C1}"/>
              </a:ext>
            </a:extLst>
          </p:cNvPr>
          <p:cNvSpPr txBox="1"/>
          <p:nvPr/>
        </p:nvSpPr>
        <p:spPr>
          <a:xfrm>
            <a:off x="800100" y="1541873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 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important to you?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Sure.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is definitely important to me because it allows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feel supported during difficult times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Besides that, it gives me a chance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 valuable life lessons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07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62D2E-EE27-2CDB-365F-8D914759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6F5B70-A9E0-E038-0173-2BEC809B88A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055CB49-FB59-979D-6C4B-995E4F6BFF6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E86C527-8F56-6163-ACBD-62E8CD0858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B4743D-D352-84BC-92CE-D2C2A349E4D6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Have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 ever 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4500" b="1" baseline="30000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ed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traveled abroad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tried Vietnamese food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learned to play a musical instrument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19790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B8CF9-1B05-6121-E0CC-F21DD533F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F19BF26-97A3-1321-9B75-3CB3EBE4BC64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CC103C8-C931-4081-D659-67103B9C4FB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A3A9196-84B0-7212-8363-AE40D65FF84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1AACFD6-B077-1EB2-76CA-6AD48B0A14CF}"/>
              </a:ext>
            </a:extLst>
          </p:cNvPr>
          <p:cNvSpPr txBox="1"/>
          <p:nvPr/>
        </p:nvSpPr>
        <p:spPr>
          <a:xfrm>
            <a:off x="800100" y="351184"/>
            <a:ext cx="16687800" cy="951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 while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ago, and I found it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trải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sz="5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yet. I haven't had the chance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– V</a:t>
            </a:r>
            <a:r>
              <a:rPr lang="en-US" sz="5000" b="1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yet. However, I'd love to try it one day because I think it would be a/an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tính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trải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nghiệm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experience.</a:t>
            </a:r>
            <a:endParaRPr kumimoji="0" lang="en-US" sz="5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30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FC9B6-F18B-9ED2-13DE-35D997B5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65638CE-4963-A99F-E203-4A5FC8944CF0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849F5C-8BEC-6952-A336-ECDBB9E344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B9E84A1-DD0C-2041-F200-B188BC8BF85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D6A26A-6BFA-8106-9D9A-487A09842B56}"/>
              </a:ext>
            </a:extLst>
          </p:cNvPr>
          <p:cNvSpPr txBox="1"/>
          <p:nvPr/>
        </p:nvSpPr>
        <p:spPr>
          <a:xfrm>
            <a:off x="800100" y="310767"/>
            <a:ext cx="16687799" cy="9671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Have you ever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Yes, I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attended a live concert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 few years ago, and I found it really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exciting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It allowed me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enjoy live music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experience the amazing atmosphere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Not yet. I haven't had the chance to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 abroad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yet. However, I'd love to try it one day because I think it would be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an unforgettable experience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62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64CE-2621-FAEA-CD2E-D5637951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7C22A57F-A38C-7B00-9D81-524EA572E6FE}"/>
              </a:ext>
            </a:extLst>
          </p:cNvPr>
          <p:cNvGrpSpPr/>
          <p:nvPr/>
        </p:nvGrpSpPr>
        <p:grpSpPr>
          <a:xfrm>
            <a:off x="381000" y="419100"/>
            <a:ext cx="17526000" cy="9448800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159B268-E52B-84D5-4E49-CD9EDC26312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8D94FFF-8008-FEB2-561D-31F48458C77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8F83C26-2C33-43F6-FCD3-690AA1E8849A}"/>
              </a:ext>
            </a:extLst>
          </p:cNvPr>
          <p:cNvSpPr txBox="1"/>
          <p:nvPr/>
        </p:nvSpPr>
        <p:spPr>
          <a:xfrm>
            <a:off x="1142999" y="495707"/>
            <a:ext cx="16002001" cy="864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6000" b="1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chemeClr val="accent5">
                      <a:lumMod val="60000"/>
                      <a:lumOff val="40000"/>
                    </a:schemeClr>
                  </a:outerShdw>
                </a:effectLs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II. CHOICE QUESTIONS</a:t>
            </a:r>
            <a:endParaRPr lang="en-VN" sz="60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lang="en-VN" sz="45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Trong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liên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"/>
            </a:pP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b="1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45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lựa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chọn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thích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VN" sz="45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7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52F4E-1A0E-45A6-BC14-E0AA8B6A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9E8CF63-560A-EF35-76A4-DDB41297731C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69AA8CB-6CFA-319A-E101-896F3F03D5E3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E126525-0F06-B90E-F473-B2800ADB66F4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B22D76F-40D5-F774-14C6-4BD7B4C281D2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LỰA CHỌN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2238192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C5E87A-6179-D28F-3B48-C07579B1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95EA8BC-DBD1-EE15-B0E6-D6F81FDC914C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6785493-ECC8-90FB-9823-F5DC79A544C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8EA1B7E-FB3B-EDD5-3F53-640E9E42526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2A5950-AA00-4386-632E-885309551E57}"/>
              </a:ext>
            </a:extLst>
          </p:cNvPr>
          <p:cNvSpPr txBox="1"/>
          <p:nvPr/>
        </p:nvSpPr>
        <p:spPr>
          <a:xfrm>
            <a:off x="800100" y="455069"/>
            <a:ext cx="16687800" cy="9376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1. ...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prefer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more important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4500" b="1" i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v"/>
            </a:pPr>
            <a:r>
              <a:rPr lang="en-US" sz="4500" b="1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VÍ DỤ: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paper books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e-books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traveling alone 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 friends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family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money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i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happiness</a:t>
            </a:r>
            <a:r>
              <a:rPr lang="en-US" sz="4500" b="1" i="1" dirty="0">
                <a:solidFill>
                  <a:schemeClr val="bg2">
                    <a:lumMod val="50000"/>
                  </a:scheme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634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3FF69-B42D-5BCC-0A98-25D0C6F55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52097B03-2C08-4187-46A6-6C10C61B1D92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692BA08-2743-BCC5-84AF-41C63B24247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53AF90BC-EEEF-A54F-2892-995CBEDFEAD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07EEFA2-ABB1-1AA9-C132-C27154D506E8}"/>
              </a:ext>
            </a:extLst>
          </p:cNvPr>
          <p:cNvSpPr txBox="1"/>
          <p:nvPr/>
        </p:nvSpPr>
        <p:spPr>
          <a:xfrm>
            <a:off x="800100" y="174117"/>
            <a:ext cx="16687800" cy="9769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1 – CHỌN 1 TRONG 2</a:t>
            </a:r>
            <a:endParaRPr lang="en-VN" sz="4400" kern="100" dirty="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VN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 </a:t>
            </a:r>
            <a:r>
              <a:rPr lang="en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Personally, 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prefer </a:t>
            </a:r>
            <a:r>
              <a:rPr lang="vi-VN" sz="44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[lựa chọn – noun/V</a:t>
            </a:r>
            <a:r>
              <a:rPr lang="vi-VN" sz="44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4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4400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more </a:t>
            </a:r>
            <a:r>
              <a:rPr lang="vi-VN" sz="44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lựa chọn]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lang="vi-VN" sz="4400" b="1" kern="100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gives me a chance to </a:t>
            </a:r>
            <a:r>
              <a:rPr lang="vi-VN" sz="4400" b="1" kern="100" dirty="0">
                <a:solidFill>
                  <a:srgbClr val="7030A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✅ PHƯƠNG ÁN 2 – CẢ HAI ĐỀU QUAN TRỌNG </a:t>
            </a:r>
            <a:endParaRPr lang="en-VN" sz="4400" kern="100" dirty="0">
              <a:solidFill>
                <a:srgbClr val="FF40FF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VN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think </a:t>
            </a:r>
            <a:r>
              <a:rPr lang="en-US" sz="44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both are equally important because they offer different benefits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[A]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helps me 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ích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của</a:t>
            </a:r>
            <a:r>
              <a:rPr lang="en-US" sz="44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while 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[B]</a:t>
            </a:r>
            <a:r>
              <a:rPr lang="en-US" sz="4400" kern="100" dirty="0">
                <a:solidFill>
                  <a:srgbClr val="0070C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allows me to 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ích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4400" b="1" kern="100" dirty="0" err="1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của</a:t>
            </a:r>
            <a:r>
              <a:rPr lang="en-US" sz="4400" b="1" kern="100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B]</a:t>
            </a:r>
            <a:r>
              <a:rPr lang="en-US" sz="44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en-VN" sz="4400" kern="100" dirty="0"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8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7E7B1-1F3E-3783-5AEC-F9CB3A11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242A4FD-AE4E-26D8-5305-28148F6171A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105886E-8DD4-6C73-2CF5-EA7E170985A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0D23BCC-3C6C-D401-5DB2-99C43CF884C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512E1DF-BD9D-1DA3-A183-D4A1F99A71F7}"/>
              </a:ext>
            </a:extLst>
          </p:cNvPr>
          <p:cNvSpPr txBox="1"/>
          <p:nvPr/>
        </p:nvSpPr>
        <p:spPr>
          <a:xfrm>
            <a:off x="800100" y="2242513"/>
            <a:ext cx="16687799" cy="580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lang="en-VN" sz="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prefer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at home 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library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500" dirty="0">
                <a:latin typeface="American Typewriter" panose="02090604020004020304" pitchFamily="18" charset="77"/>
              </a:rPr>
              <a:t>Personally, I prefer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studying in the library </a:t>
            </a:r>
            <a:r>
              <a:rPr lang="en-US" sz="4500" dirty="0">
                <a:latin typeface="American Typewriter" panose="02090604020004020304" pitchFamily="18" charset="77"/>
              </a:rPr>
              <a:t>because I find it more </a:t>
            </a:r>
            <a:r>
              <a:rPr lang="en-US" sz="45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peaceful</a:t>
            </a:r>
            <a:r>
              <a:rPr lang="en-US" sz="4500" dirty="0">
                <a:latin typeface="American Typewriter" panose="02090604020004020304" pitchFamily="18" charset="77"/>
              </a:rPr>
              <a:t>. It allows me to </a:t>
            </a:r>
            <a:r>
              <a:rPr lang="en-US" sz="45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concentrate better </a:t>
            </a:r>
            <a:r>
              <a:rPr lang="en-US" sz="4500" dirty="0">
                <a:latin typeface="American Typewriter" panose="02090604020004020304" pitchFamily="18" charset="77"/>
              </a:rPr>
              <a:t>and gives me a chance to </a:t>
            </a:r>
            <a:r>
              <a:rPr lang="en-US" sz="45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avoid distractions</a:t>
            </a:r>
            <a:r>
              <a:rPr lang="en-US" sz="4500" dirty="0"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1716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D4E0B-7998-0788-58EC-FB533342D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76CA2F79-4FAD-BB5F-D176-954E9EF04A5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7D64D2-E228-69DD-9F81-084E888FE05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48657CA-19F7-965A-9448-6F831023FB7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591A0C3-DC7D-68A9-0595-1B179DC47392}"/>
              </a:ext>
            </a:extLst>
          </p:cNvPr>
          <p:cNvSpPr txBox="1"/>
          <p:nvPr/>
        </p:nvSpPr>
        <p:spPr>
          <a:xfrm>
            <a:off x="800100" y="2095500"/>
            <a:ext cx="16687799" cy="6638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&amp;"/>
            </a:pPr>
            <a:r>
              <a:rPr lang="en-US" sz="5000" b="1" dirty="0">
                <a:solidFill>
                  <a:schemeClr val="accent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lang="en-VN" sz="5000" dirty="0">
              <a:solidFill>
                <a:schemeClr val="accent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Which is more important,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money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happiness</a:t>
            </a: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4500" dirty="0">
                <a:latin typeface="American Typewriter" panose="02090604020004020304" pitchFamily="18" charset="77"/>
              </a:rPr>
              <a:t>I think </a:t>
            </a:r>
            <a:r>
              <a:rPr lang="en-US" sz="4500" b="1" dirty="0">
                <a:latin typeface="American Typewriter" panose="02090604020004020304" pitchFamily="18" charset="77"/>
              </a:rPr>
              <a:t>both are equally important</a:t>
            </a:r>
            <a:r>
              <a:rPr lang="en-US" sz="4500" dirty="0">
                <a:latin typeface="American Typewriter" panose="02090604020004020304" pitchFamily="18" charset="77"/>
              </a:rPr>
              <a:t> because they offer different benefits.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Money</a:t>
            </a:r>
            <a:r>
              <a:rPr lang="en-US" sz="4500" dirty="0">
                <a:latin typeface="American Typewriter" panose="02090604020004020304" pitchFamily="18" charset="77"/>
              </a:rPr>
              <a:t> helps me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meet my daily needs</a:t>
            </a:r>
            <a:r>
              <a:rPr lang="en-US" sz="4500" dirty="0">
                <a:latin typeface="American Typewriter" panose="02090604020004020304" pitchFamily="18" charset="77"/>
              </a:rPr>
              <a:t>, while </a:t>
            </a:r>
            <a:r>
              <a:rPr lang="en-US" sz="45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happiness</a:t>
            </a:r>
            <a:r>
              <a:rPr lang="en-US" sz="4500" dirty="0">
                <a:latin typeface="American Typewriter" panose="02090604020004020304" pitchFamily="18" charset="77"/>
              </a:rPr>
              <a:t> allows me to </a:t>
            </a:r>
            <a:r>
              <a:rPr lang="en-US" sz="45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enjoy life and maintain good mental health</a:t>
            </a:r>
            <a:r>
              <a:rPr lang="en-US" sz="4500" dirty="0"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932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5990-426B-78E2-35A3-152B5A06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56A26A45-99E5-CBE0-E266-324830256A5D}"/>
              </a:ext>
            </a:extLst>
          </p:cNvPr>
          <p:cNvGrpSpPr/>
          <p:nvPr/>
        </p:nvGrpSpPr>
        <p:grpSpPr>
          <a:xfrm>
            <a:off x="380999" y="419100"/>
            <a:ext cx="17526001" cy="9448799"/>
            <a:chOff x="0" y="0"/>
            <a:chExt cx="4274726" cy="13581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49FF66C-2897-32ED-D1B8-D05FBFF6761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CA50E9C-77C8-5D24-8D52-C3733B7AA19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9E8807-CE9F-3705-8CC1-5C615869730A}"/>
              </a:ext>
            </a:extLst>
          </p:cNvPr>
          <p:cNvSpPr txBox="1"/>
          <p:nvPr/>
        </p:nvSpPr>
        <p:spPr>
          <a:xfrm>
            <a:off x="1142999" y="595753"/>
            <a:ext cx="16002001" cy="8640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 w="9525" cap="flat" cmpd="sng" algn="ctr">
                  <a:solidFill>
                    <a:srgbClr val="FFFFFF"/>
                  </a:solidFill>
                  <a:prstDash val="solid"/>
                  <a:round/>
                </a:ln>
                <a:solidFill>
                  <a:srgbClr val="FF0000"/>
                </a:solidFill>
                <a:effectLst>
                  <a:outerShdw blurRad="12700" dist="38100" dir="2700000" algn="tl">
                    <a:srgbClr val="4BACC6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III. WH-QUESTIONS</a:t>
            </a:r>
            <a:endParaRPr kumimoji="0" lang="en-VN" sz="6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Dấu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biết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 hỏi bắt đầu bằng từ để hỏi như: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vi-VN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lang="vi-VN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…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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Các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01: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Trả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lời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câu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hỏi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lvl="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02: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kumimoji="0" lang="en-US" sz="4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45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kumimoji="0" lang="en-US" sz="45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tin</a:t>
            </a:r>
            <a:r>
              <a:rPr kumimoji="0" 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B1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buFont typeface="Wingdings" pitchFamily="2" charset="2"/>
              <a:buChar char="§"/>
              <a:defRPr/>
            </a:pPr>
            <a:r>
              <a:rPr lang="en-US" sz="4500" b="1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Bước</a:t>
            </a:r>
            <a:r>
              <a:rPr lang="en-US" sz="4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03: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Mở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rộng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đáp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4500" noProof="0" dirty="0" err="1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án</a:t>
            </a:r>
            <a:r>
              <a:rPr lang="en-US" sz="4500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VN" sz="45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➝ B2+</a:t>
            </a:r>
            <a:endParaRPr lang="en-US" sz="4500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D8EA-4747-2291-C49C-35573807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CDAC255-2981-3FC9-3C8E-535D893726F1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1AE4AFF-2CE9-7BD2-6808-2A61EF40CEB1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923F92-B3E8-ECD8-DA65-AF5E9575BDE5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EF96BC72-A56B-386C-C543-CE22A82442EF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CÁC CÂU HỎI THÔNG TIN THƯỜNG GẶP</a:t>
            </a:r>
          </a:p>
        </p:txBody>
      </p:sp>
    </p:spTree>
    <p:extLst>
      <p:ext uri="{BB962C8B-B14F-4D97-AF65-F5344CB8AC3E}">
        <p14:creationId xmlns:p14="http://schemas.microsoft.com/office/powerpoint/2010/main" val="3890347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13F1F-B6B0-745A-B9D6-1DEB3DF7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33A780F-256D-CFB7-EA32-219F6573A894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D5D1184-D832-8915-60C3-A1F831537F6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5BF05EB-A498-3E6C-5D5B-89C1F901E708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7AECD792-901C-95B9-1A9F-AD34AD16D19C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856468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2CF6C-351D-FB9A-3F85-F7F498BF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A33551B4-2A97-E3BB-F3AC-A32F1F49F39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DDB0611-6505-7809-B86F-F30A5A081F7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7F4D0BE-C85D-29A2-636D-E962391250E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5041A8-3D2B-C714-8DF7-EE3167155AA5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</a:t>
            </a:r>
            <a:r>
              <a:rPr lang="en-US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 do you often do</a:t>
            </a:r>
            <a:r>
              <a:rPr lang="en-VN" sz="4500" b="1" dirty="0">
                <a:solidFill>
                  <a:srgbClr val="00B0F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VN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[thời gian]</a:t>
            </a:r>
            <a:r>
              <a:rPr lang="en-VN" sz="4500" b="1" dirty="0"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  <a:defRPr/>
            </a:pP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lang="en-US" sz="4500" dirty="0">
              <a:solidFill>
                <a:prstClr val="black"/>
              </a:solidFill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in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your free time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at weekends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i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after school</a:t>
            </a:r>
            <a:r>
              <a:rPr lang="en-US" sz="45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2301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63D1F-1CDD-58C0-C090-893369E3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F8A1604-FE20-ABAA-7359-3F5E17D1ABD1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0931141-5EA3-AA34-FC1F-CC2F74376CE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8CE17CA-16CD-0885-A249-FF3220448DA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C26E0B-46EC-0219-1515-65C02F81AB28}"/>
              </a:ext>
            </a:extLst>
          </p:cNvPr>
          <p:cNvSpPr txBox="1"/>
          <p:nvPr/>
        </p:nvSpPr>
        <p:spPr>
          <a:xfrm>
            <a:off x="800100" y="342900"/>
            <a:ext cx="16687800" cy="951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tend to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</a:t>
            </a:r>
            <a:r>
              <a:rPr lang="vi-VN" sz="5000" b="1" kern="100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hoạt động]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0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5000" b="1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usually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50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] 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because it allows me  to 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1]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Sometimes, I also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en-US" sz="5000" kern="1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which gives me a chance to 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lợi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kern="100" dirty="0" err="1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2]</a:t>
            </a:r>
            <a:r>
              <a:rPr lang="en-US" sz="5000" kern="100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5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54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FBE14-E12A-BFC9-724F-A7C1DE30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D594F1F-84B3-46E8-641A-859B4F78D197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C9C13B7-CE0B-9E8A-3119-FC16330EA8D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38F494-13A4-24DB-A420-93588B863F2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2944FA-863A-71BF-836F-D155AD7255B4}"/>
              </a:ext>
            </a:extLst>
          </p:cNvPr>
          <p:cNvSpPr txBox="1"/>
          <p:nvPr/>
        </p:nvSpPr>
        <p:spPr>
          <a:xfrm>
            <a:off x="800100" y="705906"/>
            <a:ext cx="16687799" cy="8875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lang="en-US" sz="4500" b="1" dirty="0"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tend to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watch movies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in the evening because I find it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relaxing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4500" b="1" dirty="0">
                <a:solidFill>
                  <a:srgbClr val="FF40FF"/>
                </a:solidFill>
                <a:latin typeface="American Typewriter" panose="02090604020004020304" pitchFamily="18" charset="77"/>
              </a:rPr>
              <a:t>broaden my knowledge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4500" b="1" dirty="0">
                <a:solidFill>
                  <a:srgbClr val="FF40FF"/>
                </a:solidFill>
                <a:latin typeface="American Typewriter" panose="02090604020004020304" pitchFamily="18" charset="77"/>
              </a:rPr>
              <a:t>clear my mind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</a:t>
            </a:r>
            <a:r>
              <a:rPr lang="en-US" sz="4500" b="1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B2: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 usually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 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in the evening because it allows me to </a:t>
            </a:r>
            <a:r>
              <a:rPr lang="en-US" sz="45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widen my knowledge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 Sometimes, I also </a:t>
            </a:r>
            <a:r>
              <a:rPr lang="en-US" sz="4500" b="1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, which gives me a chance to </a:t>
            </a:r>
            <a:r>
              <a:rPr lang="en-US" sz="4500" b="1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relax after a busy day</a:t>
            </a:r>
            <a:r>
              <a:rPr lang="en-US" sz="45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VN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0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02085-D391-0D20-52DC-249928D8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A629BE8-F2F0-70C4-EFDB-8D0D24488E4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479F9F3-B7C2-F014-78DF-4CCCD7AD924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E8884B1-298E-6B56-03ED-3ED0B159ABA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CCF93E6-DEC6-EE5F-F0AC-F073ADE86ECA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2. What do you often do to 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500" b="1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lvl="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q"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healthy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improve your English skills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reduce stress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stay in good shape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6556309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E6F4E-2A93-A736-999A-CD61AD513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C5017C5-A334-091E-415F-462D897B2D9F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354FEC7-1CC0-20BB-01A9-EE317D9019B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B2C5FFE-1833-9CC1-DAF3-66C009EC5B5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8B392D-4D91-B929-FE51-B8658C79BD1F}"/>
              </a:ext>
            </a:extLst>
          </p:cNvPr>
          <p:cNvSpPr txBox="1"/>
          <p:nvPr/>
        </p:nvSpPr>
        <p:spPr>
          <a:xfrm>
            <a:off x="800100" y="2195898"/>
            <a:ext cx="16687800" cy="5895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1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to </a:t>
            </a:r>
            <a:r>
              <a:rPr lang="vi-VN" sz="50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[mục đích] 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it’s an effective way to </a:t>
            </a:r>
            <a:r>
              <a:rPr lang="vi-VN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also try to 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2 – V</a:t>
            </a:r>
            <a:r>
              <a:rPr lang="vi-VN" sz="5000" b="1" kern="100" baseline="-250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0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it allows me to </a:t>
            </a:r>
            <a:r>
              <a:rPr lang="vi-VN" sz="50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0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69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F7DBD-D7DF-FE4B-C28D-D6827259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3ED44688-0233-9A89-517A-BF0F69B2C08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80B24C8-E1DA-6D8A-AA20-BC6B6D53452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940B8B6-4C7A-6914-30F4-2A3109BFCD8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3F3BD8B-FB1C-E2EF-7AB8-03B8CDCA0D3F}"/>
              </a:ext>
            </a:extLst>
          </p:cNvPr>
          <p:cNvSpPr txBox="1"/>
          <p:nvPr/>
        </p:nvSpPr>
        <p:spPr>
          <a:xfrm>
            <a:off x="800100" y="1538859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to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keep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in shape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often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keep in shape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it’s an effective way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burn calories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also try to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have a balanced diet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control my weight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77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FEDCF-070D-0E57-47F6-AF871121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73E60BD-C6B3-53B3-5229-CA17B93A91F5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754F1F0-7622-2E1A-DE6F-A72AF7F1A53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4A97D41-2F35-95D0-F217-6F9770610EA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DE43C4D-FAE5-A1DD-003C-A8E3B3814193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do you often do when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huống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stressed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free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feel bored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you are tired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6488579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18E05-4EC2-8960-5682-27B03FA8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4FC351C-4B24-6736-0E25-AF4009FB2648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0714701-ACFA-F7C9-5F91-ADF252E1026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63ED901-9F6B-8767-D6EA-B693F32A25D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E695D10-71CE-8EB7-5798-86933184A38F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</a:t>
            </a:r>
            <a:r>
              <a:rPr lang="vi-VN" sz="5500" kern="100" noProof="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usally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when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[tình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huống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a great way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 also allows me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so I can feel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1537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16FBF9-9A9C-8C9D-A044-CE82E99C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78B7128-2BD4-FF01-8994-9F239BDBB185}"/>
              </a:ext>
            </a:extLst>
          </p:cNvPr>
          <p:cNvGrpSpPr/>
          <p:nvPr/>
        </p:nvGrpSpPr>
        <p:grpSpPr>
          <a:xfrm>
            <a:off x="304799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738B6A4-B4BB-376A-2F52-E16C387988D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1C0DE2-A744-BE71-0772-E467025810C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4025EED-F40E-E960-8F1E-C333B3433A6E}"/>
              </a:ext>
            </a:extLst>
          </p:cNvPr>
          <p:cNvSpPr txBox="1"/>
          <p:nvPr/>
        </p:nvSpPr>
        <p:spPr>
          <a:xfrm>
            <a:off x="800099" y="1367570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do you often do when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you fee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 sad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</a:t>
            </a:r>
            <a:r>
              <a:rPr lang="en-US" sz="5000" noProof="0" dirty="0">
                <a:solidFill>
                  <a:prstClr val="black"/>
                </a:solidFill>
                <a:latin typeface="American Typewriter" panose="02090604020004020304" pitchFamily="18" charset="77"/>
              </a:rPr>
              <a:t>usually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when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feel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sad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it a great way to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 b="1" dirty="0">
                <a:solidFill>
                  <a:srgbClr val="8064A2"/>
                </a:solidFill>
                <a:latin typeface="American Typewriter" panose="02090604020004020304" pitchFamily="18" charset="77"/>
              </a:rPr>
              <a:t>improve my mood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It also allows me to </a:t>
            </a:r>
            <a:r>
              <a:rPr lang="en-US" sz="5000" b="1" dirty="0">
                <a:solidFill>
                  <a:srgbClr val="8064A2"/>
                </a:solidFill>
                <a:latin typeface="American Typewriter" panose="02090604020004020304" pitchFamily="18" charset="77"/>
              </a:rPr>
              <a:t>forget about my worries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,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so I can feel more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positive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99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A37B6-99CD-CC26-1A87-E37A04D3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87B59A4-7025-C6D0-9B96-538B639C0FC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8164B1F9-73AA-57F8-CEEE-EE6946897F0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96868B0-3F3B-CEA5-DA8F-4844E67BE0B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5BDEA1-61B5-A10B-4E7F-2D30AAF23DD4}"/>
              </a:ext>
            </a:extLst>
          </p:cNvPr>
          <p:cNvSpPr txBox="1"/>
          <p:nvPr/>
        </p:nvSpPr>
        <p:spPr>
          <a:xfrm>
            <a:off x="800100" y="1685803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kinds of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do you like?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music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books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sports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like? </a:t>
            </a:r>
          </a:p>
        </p:txBody>
      </p:sp>
    </p:spTree>
    <p:extLst>
      <p:ext uri="{BB962C8B-B14F-4D97-AF65-F5344CB8AC3E}">
        <p14:creationId xmlns:p14="http://schemas.microsoft.com/office/powerpoint/2010/main" val="4577941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6273A-7609-FB9F-AD24-A3158EB8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8598698-ACA6-4159-A7D8-6D1ACE1F3739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B5A9550-48F3-3107-D47C-54B5B7B4ED2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3795178-A85E-70B2-5AE3-C94B52A6279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9CB093-645B-9A3A-C247-54436769CBB7}"/>
              </a:ext>
            </a:extLst>
          </p:cNvPr>
          <p:cNvSpPr txBox="1"/>
          <p:nvPr/>
        </p:nvSpPr>
        <p:spPr>
          <a:xfrm>
            <a:off x="800100" y="2337164"/>
            <a:ext cx="16687800" cy="519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B2:</a:t>
            </a:r>
            <a:r>
              <a:rPr lang="en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a big fan of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thể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loại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 find them very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từ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They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allow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give me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 chance to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54934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9ED00-9ACF-75E5-2005-141126D6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CE7208B-FF0F-84C0-6D4E-BFE687A89CED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1C5E141-C9C4-8328-18FB-62380DF7D676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C52DFE3-F29F-9919-CCF9-0BE348E7159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E3E4BBD-1593-9E59-B5C1-820F773BE2B8}"/>
              </a:ext>
            </a:extLst>
          </p:cNvPr>
          <p:cNvSpPr txBox="1"/>
          <p:nvPr/>
        </p:nvSpPr>
        <p:spPr>
          <a:xfrm>
            <a:off x="800100" y="211594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kinds of movies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like?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I’m a big fan of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action and comedy movies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 find them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They allow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relax after a busy day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enjoy me free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556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91118-2DCA-F871-F83E-5B16DA03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67AA2CD-3F17-6A1A-4D73-24953888D67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9920656-5D39-2904-18A1-C2910389655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6FE30C6-EA25-B74D-420B-5DE39F3EF046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E1ECDEC-3FD2-2E03-FB61-B3B4DB76A965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5. What is your favorite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movie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color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sport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7762534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B1AE8-786F-EFF7-B6D9-77BE34FD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90F0D30-3A6D-8042-AA3A-10FA7E9A984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0529810-955B-3300-6B59-C350255D98C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B936D38-EAA0-BDA2-2C57-24ED441499C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1CF364A-BC1C-9BDA-2E89-425E525100A4}"/>
              </a:ext>
            </a:extLst>
          </p:cNvPr>
          <p:cNvSpPr txBox="1"/>
          <p:nvPr/>
        </p:nvSpPr>
        <p:spPr>
          <a:xfrm>
            <a:off x="800100" y="1910146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One of my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[danh từ số nhiều]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cụ thể]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 find it both </a:t>
            </a:r>
            <a:r>
              <a:rPr lang="vi-VN" sz="5500" b="1" kern="100" dirty="0">
                <a:solidFill>
                  <a:schemeClr val="accent5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phù hợp]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always makes me feel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helps me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60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2D603-3843-40EC-E2B6-FD00290DF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FE22FD24-0092-6642-B28E-BCEE3E0C3DEF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FA52A56-6F6B-D011-6598-A8610BC2AC4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662237-5F2D-9A01-3E1E-6201E5EF62E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7090D33-69AA-1A86-7875-B923F45F4675}"/>
              </a:ext>
            </a:extLst>
          </p:cNvPr>
          <p:cNvSpPr txBox="1"/>
          <p:nvPr/>
        </p:nvSpPr>
        <p:spPr>
          <a:xfrm>
            <a:off x="800100" y="1370584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is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your favorite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One of my favorite foods is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Vietnamese pho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 find it both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delicious and nutritious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always makes me feel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satisfied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helps me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energized throughout the day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88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061EC-C769-868E-222F-191C221D2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FAA5642-E54E-63C8-104C-48138093A18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5F8318A-6577-4C33-E333-FA7089B9FE9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FFD3A51-E920-9013-9D2C-84598889413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7E0ED2-3312-2554-BF50-FB30BE21820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What are the benefits of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[noun/noun phrase/V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public transport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 the benefits of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soft skills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28628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0056E-0EEB-7C59-46D4-651FEE3C9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4E617BB-FA53-4E1A-3B0C-32456D323A2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34BB3E-95B5-064E-CF78-1A2539406E5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862967D-A4F6-743E-DC36-2672DDDC8BF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BA9F592-68BA-5744-144E-C066206C2DC6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</a:t>
            </a:r>
            <a:r>
              <a:rPr kumimoji="0" lang="en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B2: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[noun/ noun phrase/ V</a:t>
            </a:r>
            <a:r>
              <a:rPr lang="en-US" sz="5500" b="1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bring(s)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 a number of benefits. For example,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it allows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/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they allow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us to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Moreover, we can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3]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9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28323-FCF9-78F4-146A-3EE4B8D7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9EA0B8AD-2DEF-D939-28FE-1597AE8B8299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082C9BC-6795-2520-CC19-D93C2F1D007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BA9856E-E260-61AF-F0ED-2D6E26CEF93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03C8099-CAC8-DF5A-0641-6EB0DAC9E9DE}"/>
              </a:ext>
            </a:extLst>
          </p:cNvPr>
          <p:cNvSpPr txBox="1"/>
          <p:nvPr/>
        </p:nvSpPr>
        <p:spPr>
          <a:xfrm>
            <a:off x="800100" y="1538859"/>
            <a:ext cx="16687799" cy="7209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What are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the benefits of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Exercise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brings us a number of benefits. For example,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it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allows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us to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stay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Moreover, we can </a:t>
            </a:r>
            <a:r>
              <a:rPr lang="en-US" sz="5000" b="1" dirty="0">
                <a:solidFill>
                  <a:srgbClr val="7030A0"/>
                </a:solidFill>
                <a:latin typeface="American Typewriter" panose="02090604020004020304" pitchFamily="18" charset="77"/>
              </a:rPr>
              <a:t>improve our physical fitness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441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1E217-257F-327D-637B-B9D6CC0E2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33BBFDC-9B85-9FC5-C33F-36E1836CCD30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486FE8A-1945-65DA-AD30-B3B954C31EEE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A596886-BB9B-9D09-DA82-36A812C1EA39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2B8A7DF8-6EAE-A769-5543-0B90F6E2ED7E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23080033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EA1CD-4136-9696-474A-A6F1ADC0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75AC479-A96E-6F56-A136-3BBB356E6D93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CB81FF3-EBEE-A8F4-F5BE-4371928C46A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28CEA69-4A6B-1EA2-71FB-36B2EED6231E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EA733BD-79B7-09DE-214D-D92CF0C90FEE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Who’s your favorite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[noun – 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actor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 favorite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football player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7679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13F55-42CB-5B8A-1765-98AAD748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DD1D90E4-737D-F257-238C-7CED110060E7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CB66A456-05ED-5265-9145-102CCFF468C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A757634-18E1-7862-0932-B0A022C22BDA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1E42DCE-038E-17EE-6202-99F5E585CEDC}"/>
              </a:ext>
            </a:extLst>
          </p:cNvPr>
          <p:cNvSpPr txBox="1"/>
          <p:nvPr/>
        </p:nvSpPr>
        <p:spPr>
          <a:xfrm>
            <a:off x="800100" y="1913449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a huge fan of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[tên]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admire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him/her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FF40FF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[lý do chính]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Besides,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he/she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is very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tính cách]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which I find very impressive.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58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DA4F7-5CEC-BBA9-48EA-533FF4FD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6D5DFF1-F4A3-79EE-90D7-57B16EEE7A4A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CA4D7C1-77FC-58BB-F104-BAB5A1F0A75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4655E44-436A-78C7-5485-3647AFF7FE2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38651E-D317-3809-2F36-434A5A3B66AC}"/>
              </a:ext>
            </a:extLst>
          </p:cNvPr>
          <p:cNvSpPr txBox="1"/>
          <p:nvPr/>
        </p:nvSpPr>
        <p:spPr>
          <a:xfrm>
            <a:off x="838201" y="2066208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Who’s your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favorite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singer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I’m a huge fan of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Justin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Bieber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I admire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him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because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40FF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he has a beautiful voice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. Besides,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he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is very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talented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creative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, which I find very impressive.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758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7D5C3-6E9E-D36A-25E6-17CE6256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ED44BDB1-2771-151B-3508-AEB485A7CC31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BA8E9ED-F3B1-A466-A01A-EBA82E7F34DA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5AB80D6-9930-FED8-D39A-AF4E62AF56BF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C92789-20ED-8A7F-8A85-301E57D6B758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Who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 sports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out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with?</a:t>
            </a:r>
          </a:p>
        </p:txBody>
      </p:sp>
    </p:spTree>
    <p:extLst>
      <p:ext uri="{BB962C8B-B14F-4D97-AF65-F5344CB8AC3E}">
        <p14:creationId xmlns:p14="http://schemas.microsoft.com/office/powerpoint/2010/main" val="42118841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8C4D5-0FA7-461C-2CF0-E00D2F04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D47D7ED-E8F6-3D45-E795-6CBB2C35B9EC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252D9E7-4494-B917-40BA-AD5BAD03FDB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BC3160F-A922-2208-E401-F73F51536EB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DF7BA76-7582-B3F9-7724-296AEF8BBDA3}"/>
              </a:ext>
            </a:extLst>
          </p:cNvPr>
          <p:cNvSpPr txBox="1"/>
          <p:nvPr/>
        </p:nvSpPr>
        <p:spPr>
          <a:xfrm>
            <a:off x="800100" y="566926"/>
            <a:ext cx="16687800" cy="9153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often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động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with my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[đối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tượng phù hợp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[lý do]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find it more </a:t>
            </a:r>
            <a:r>
              <a:rPr lang="vi-VN" sz="5500" b="1" kern="100" dirty="0">
                <a:solidFill>
                  <a:schemeClr val="accent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phù hợp]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when we can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share the experience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and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spend quality time together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lang="vi-VN" sz="5500" kern="100" dirty="0">
              <a:solidFill>
                <a:srgbClr val="000000"/>
              </a:solidFill>
              <a:highlight>
                <a:srgbClr val="FFFF00"/>
              </a:highlight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NOTE: 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Có thể thay </a:t>
            </a:r>
            <a:r>
              <a:rPr lang="vi-VN" sz="5500" b="1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</a:t>
            </a:r>
            <a:r>
              <a:rPr lang="vi-VN" sz="5500" kern="100" dirty="0">
                <a:solidFill>
                  <a:srgbClr val="00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cho phù hợp với từng hoạt động.</a:t>
            </a:r>
          </a:p>
        </p:txBody>
      </p:sp>
    </p:spTree>
    <p:extLst>
      <p:ext uri="{BB962C8B-B14F-4D97-AF65-F5344CB8AC3E}">
        <p14:creationId xmlns:p14="http://schemas.microsoft.com/office/powerpoint/2010/main" val="182033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1DEC8F-B9BC-ACFC-D539-45E96D9C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1659776-FF4B-1280-3605-D6D2BDE3560D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35BBF9D-FA72-5070-7269-C6B99E280E0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58DEFBB-7E46-59DA-CDAF-8C07AECAB4F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F920D7-2D5B-F5FC-5E83-18700D477FEA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Who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often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go shopping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with my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sister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we have similar interests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find it more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enjoyable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when we can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help each other choose suitable things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prstClr val="black"/>
                </a:solidFill>
                <a:latin typeface="American Typewriter" panose="02090604020004020304" pitchFamily="18" charset="77"/>
              </a:rPr>
              <a:t>share our opinions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69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E5FC3-C505-64F9-D50F-3AC34044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AEBE055-3707-33F4-9BFB-0F7228CB2CF6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D994F7F-C8BD-A089-6809-123A28AD395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8768B4F-4FFD-1113-6978-F03FE7CD32A0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78BBFFA8-79A9-A051-3114-398901D6C04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WHEN</a:t>
            </a:r>
          </a:p>
        </p:txBody>
      </p:sp>
    </p:spTree>
    <p:extLst>
      <p:ext uri="{BB962C8B-B14F-4D97-AF65-F5344CB8AC3E}">
        <p14:creationId xmlns:p14="http://schemas.microsoft.com/office/powerpoint/2010/main" val="1055410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733BF-0C85-BC63-F4FA-5A90B8FD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63FC82FB-53E0-3FDD-DD43-9D5AEB13DF48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3195B82-81EB-909E-B630-8472E9F1F295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7036380-6E72-634B-5041-FB9CB9A6F375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1A09FB-86BD-C7A2-341F-7AFCAE3525B3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When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 to music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meet your friends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your homework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5825328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6986B-1736-A960-BB0A-0970C6680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31EF531-6F4D-E66B-117F-420B393D685F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6157FC-A9E7-B932-DFFB-7A7EBCFC8EB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AD2DB72F-33F5-2EA4-C7BD-57153DA1D6B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7B76435-51FB-619A-675D-DF350E4D0D64}"/>
              </a:ext>
            </a:extLst>
          </p:cNvPr>
          <p:cNvSpPr txBox="1"/>
          <p:nvPr/>
        </p:nvSpPr>
        <p:spPr>
          <a:xfrm>
            <a:off x="800100" y="1794730"/>
            <a:ext cx="16687800" cy="669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[thời gian]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that’s when I have some free time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find it a great opportunity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70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FDCB6-2DE6-6004-D4DA-6E7A3358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D080C911-E597-03DE-5C75-84D79B4892B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097F70B-65F4-8E84-4195-16D3E3D0602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215986D-A349-3B13-CD72-672B96305C4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2BE48C-549D-2590-979B-D8A615802299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When do you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to music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listen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to music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evening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that’s when I have some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free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 find it a great opportunity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relax after a busy day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reduce stress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953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C4D95-7F13-5A56-F0A8-5C4A09807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30C2708-4B6C-3B54-4975-91B81A7E0207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5BA69B-BD0C-96BF-8F1D-3596AA2049CD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EE36897-965C-4275-EBAE-F32DD401B1B1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8327C5D1-2AE3-377E-48AB-A5960F46E518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WHERE</a:t>
            </a:r>
          </a:p>
        </p:txBody>
      </p:sp>
    </p:spTree>
    <p:extLst>
      <p:ext uri="{BB962C8B-B14F-4D97-AF65-F5344CB8AC3E}">
        <p14:creationId xmlns:p14="http://schemas.microsoft.com/office/powerpoint/2010/main" val="19295965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344FC-6D8B-0346-62A7-0575D30C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09656FA0-53E8-056D-B8CA-85CB3DA7E140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1217CB6-CF9B-1197-6D68-93F439DE920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1D505776-3604-B54F-556B-60119E42BA1C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8C188EA-B496-E1D6-FD56-9DCD761B96F4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often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kumimoji="0" lang="en-US" sz="45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hang out with your friends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9220200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0D580-8EAE-0262-45F0-1F06F65C1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C81BF453-BBEE-BE29-2F58-F6D010E76DF0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6B619A1-14EC-F98E-9DE6-825BCAB782D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950984EC-769C-8CA1-AD25-30B56DA77A4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648302-9967-FC6A-DDFF-C5D77E5ADEE3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kumimoji="0" lang="vi-VN" sz="5500" b="1" i="0" u="none" strike="noStrike" kern="1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[cụm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địa điểm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 find it 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địa điểm]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gives me a chance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27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47D5AF-B96E-0561-F40C-3A68EB79F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340BA7F-D2D8-1CAD-066B-B2BC99CA57CC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675EB6-1940-4422-00A2-972EBACB373B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13BA21B-9A58-38B7-58B6-E19AA0B71C3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5A0E3F8-E00E-695D-9559-1C4EC4871C55}"/>
              </a:ext>
            </a:extLst>
          </p:cNvPr>
          <p:cNvSpPr txBox="1"/>
          <p:nvPr/>
        </p:nvSpPr>
        <p:spPr>
          <a:xfrm>
            <a:off x="838201" y="2066208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Where do you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 often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read books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 the school library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 it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quiet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gives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motivated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7586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6D8D2-6DA2-53F9-1CAE-F35489AE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08B95F2-7F9C-B7EC-BF03-88813247766E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F43B1E-17F1-122E-8528-27C4B80533EC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F1F42F-280A-F267-8B92-1B6E652141A2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3DB4787-3517-29FB-FC18-4BD81B14D8E3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166109420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ACB01C-7A1E-9B1B-6E24-E14C061C1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F3FEF528-903F-433E-62F4-95028DE8A4D2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C7A5107-E606-769F-E5E6-EB57984436BF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8D5B714C-D94B-4A84-D5A4-9559A59E9F14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5F604F-16C1-74AD-622B-6043506A95F7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Why do you like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V</a:t>
            </a:r>
            <a:r>
              <a:rPr lang="en-US" sz="4500" b="1" baseline="-25000" dirty="0" err="1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listening to music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playing sports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learning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 </a:t>
            </a:r>
          </a:p>
        </p:txBody>
      </p:sp>
    </p:spTree>
    <p:extLst>
      <p:ext uri="{BB962C8B-B14F-4D97-AF65-F5344CB8AC3E}">
        <p14:creationId xmlns:p14="http://schemas.microsoft.com/office/powerpoint/2010/main" val="32977365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4329B-97CE-5283-EF6B-4E9FC541A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338095F-A32D-BDB0-70A5-9C9B78139A88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65A1D6AF-C62C-E790-903C-4C895581696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049149B1-283B-45D9-F4AC-32B40FB775F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40C2B05-3116-8AB9-627F-A9C37FA478FE}"/>
              </a:ext>
            </a:extLst>
          </p:cNvPr>
          <p:cNvSpPr txBox="1"/>
          <p:nvPr/>
        </p:nvSpPr>
        <p:spPr>
          <a:xfrm>
            <a:off x="800100" y="1702374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really into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because I find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it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mô tả hoạt động]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It allows me to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gives me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a chance to </a:t>
            </a:r>
            <a:r>
              <a:rPr lang="vi-VN" sz="5500" b="1" kern="100" dirty="0">
                <a:solidFill>
                  <a:srgbClr val="8064A2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73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EB51-2FBD-F4F5-7E67-DF5C4775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22BA05F-B87C-6DEF-1B3C-FE1C512121D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2CF859E-AB82-FBBF-8C26-A831BC08B55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9D409D1-0484-D186-F0FB-CE327101983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A17255-0D53-3620-5B5A-CC7064190574}"/>
              </a:ext>
            </a:extLst>
          </p:cNvPr>
          <p:cNvSpPr txBox="1"/>
          <p:nvPr/>
        </p:nvSpPr>
        <p:spPr>
          <a:xfrm>
            <a:off x="800100" y="2115940"/>
            <a:ext cx="16687799" cy="605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Why do you like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swimming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I’m really into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swimming 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because I find</a:t>
            </a:r>
            <a:r>
              <a:rPr kumimoji="0" lang="en-US" sz="5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it</a:t>
            </a:r>
            <a:r>
              <a:rPr kumimoji="0" 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 very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merican Typewriter" panose="02090604020004020304" pitchFamily="18" charset="77"/>
                <a:ea typeface="+mn-ea"/>
                <a:cs typeface="+mn-cs"/>
              </a:rPr>
              <a:t>interesting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stay healthy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gives me a chance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clear my mind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9483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E2207-315F-C09A-AF5D-B66ADC6DE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1835629-F663-2890-81AA-C6820E754C39}"/>
              </a:ext>
            </a:extLst>
          </p:cNvPr>
          <p:cNvGrpSpPr/>
          <p:nvPr/>
        </p:nvGrpSpPr>
        <p:grpSpPr>
          <a:xfrm>
            <a:off x="1020533" y="2565093"/>
            <a:ext cx="16246929" cy="5156814"/>
            <a:chOff x="0" y="0"/>
            <a:chExt cx="2808463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E9A1D76-2E83-96B1-E342-E9FFBA5D6D0B}"/>
                </a:ext>
              </a:extLst>
            </p:cNvPr>
            <p:cNvSpPr/>
            <p:nvPr/>
          </p:nvSpPr>
          <p:spPr>
            <a:xfrm>
              <a:off x="0" y="0"/>
              <a:ext cx="2808463" cy="1358173"/>
            </a:xfrm>
            <a:custGeom>
              <a:avLst/>
              <a:gdLst/>
              <a:ahLst/>
              <a:cxnLst/>
              <a:rect l="l" t="t" r="r" b="b"/>
              <a:pathLst>
                <a:path w="2808463" h="1358173">
                  <a:moveTo>
                    <a:pt x="37027" y="0"/>
                  </a:moveTo>
                  <a:lnTo>
                    <a:pt x="2771436" y="0"/>
                  </a:lnTo>
                  <a:cubicBezTo>
                    <a:pt x="2791885" y="0"/>
                    <a:pt x="2808463" y="16578"/>
                    <a:pt x="2808463" y="37027"/>
                  </a:cubicBezTo>
                  <a:lnTo>
                    <a:pt x="2808463" y="1321146"/>
                  </a:lnTo>
                  <a:cubicBezTo>
                    <a:pt x="2808463" y="1341595"/>
                    <a:pt x="2791885" y="1358173"/>
                    <a:pt x="2771436" y="1358173"/>
                  </a:cubicBezTo>
                  <a:lnTo>
                    <a:pt x="37027" y="1358173"/>
                  </a:lnTo>
                  <a:cubicBezTo>
                    <a:pt x="27207" y="1358173"/>
                    <a:pt x="17789" y="1354272"/>
                    <a:pt x="10845" y="1347328"/>
                  </a:cubicBezTo>
                  <a:cubicBezTo>
                    <a:pt x="3901" y="1340384"/>
                    <a:pt x="0" y="1330966"/>
                    <a:pt x="0" y="1321146"/>
                  </a:cubicBezTo>
                  <a:lnTo>
                    <a:pt x="0" y="37027"/>
                  </a:lnTo>
                  <a:cubicBezTo>
                    <a:pt x="0" y="16578"/>
                    <a:pt x="16578" y="0"/>
                    <a:pt x="370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endParaRPr lang="en-V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88FD147-05C7-C34B-2058-8EC5E7A5931F}"/>
                </a:ext>
              </a:extLst>
            </p:cNvPr>
            <p:cNvSpPr txBox="1"/>
            <p:nvPr/>
          </p:nvSpPr>
          <p:spPr>
            <a:xfrm>
              <a:off x="0" y="-47625"/>
              <a:ext cx="2808463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09E3F006-2135-4111-4330-86187230125A}"/>
              </a:ext>
            </a:extLst>
          </p:cNvPr>
          <p:cNvSpPr txBox="1"/>
          <p:nvPr/>
        </p:nvSpPr>
        <p:spPr>
          <a:xfrm>
            <a:off x="1455985" y="3789283"/>
            <a:ext cx="15376023" cy="27084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800" b="1" dirty="0">
                <a:solidFill>
                  <a:srgbClr val="67976C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QUESTIONS THAT START WITH </a:t>
            </a:r>
            <a:r>
              <a:rPr lang="en-US" sz="8800" b="1" dirty="0">
                <a:solidFill>
                  <a:srgbClr val="FF0000"/>
                </a:solidFill>
                <a:latin typeface="American Typewriter" panose="02090604020004020304" pitchFamily="18" charset="77"/>
                <a:ea typeface="Laila"/>
                <a:cs typeface="Laila"/>
                <a:sym typeface="Laila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32021200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D73FB-126C-5462-00A3-1B180DF6D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315B77FC-992F-55DD-3A28-48EC4F43EBAA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BF72C480-0FA2-EE21-5A0A-558A1428A2D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6F68234C-CCF7-9B8E-B9A7-9686EE26E1FD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A7974D-5EEA-7FBF-82FF-E58D7B2AE74B}"/>
              </a:ext>
            </a:extLst>
          </p:cNvPr>
          <p:cNvSpPr txBox="1"/>
          <p:nvPr/>
        </p:nvSpPr>
        <p:spPr>
          <a:xfrm>
            <a:off x="800100" y="1733306"/>
            <a:ext cx="16687800" cy="699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[go/get/commute/travel] to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get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school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travel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work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commute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university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the supermarket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566978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65A54-C6E0-9899-5864-B4D93CF4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8E6F681B-F1EF-41F5-C2EF-93E57D984E7D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D16A330D-D5EF-DFB8-008D-099147560D73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301CD6E-29E1-BDC9-FF6F-890492D12F64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3E4E65-F309-4422-74E4-F227285CC421}"/>
              </a:ext>
            </a:extLst>
          </p:cNvPr>
          <p:cNvSpPr txBox="1"/>
          <p:nvPr/>
        </p:nvSpPr>
        <p:spPr>
          <a:xfrm>
            <a:off x="800100" y="1872045"/>
            <a:ext cx="16687800" cy="6466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usually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[go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/ get/ commute/ travel]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there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by 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[phương tiện]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as it’s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very </a:t>
            </a:r>
            <a:r>
              <a:rPr lang="vi-VN" sz="5500" b="1" kern="100" dirty="0">
                <a:solidFill>
                  <a:srgbClr val="F79646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 tính từ mô tả phương tiện]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That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way, I can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[2</a:t>
            </a:r>
            <a:r>
              <a:rPr kumimoji="0" lang="vi-VN" sz="5500" b="1" i="0" u="none" strike="noStrike" kern="100" cap="none" spc="0" normalizeH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</a:t>
            </a: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8064A2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lợi ích]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37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C286D-16F4-968B-AA1C-1CA6C181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7F779E2-5B9E-42D7-2E51-46824BB17A61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4B60BE-EC31-1F10-59D6-4D220E92DCD4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F9C53A5-2B81-5356-0ACC-4EC3577A291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42DDCA-E0E8-A518-876B-01EB5FC1099C}"/>
              </a:ext>
            </a:extLst>
          </p:cNvPr>
          <p:cNvSpPr txBox="1"/>
          <p:nvPr/>
        </p:nvSpPr>
        <p:spPr>
          <a:xfrm>
            <a:off x="800100" y="2115940"/>
            <a:ext cx="16687799" cy="622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school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day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usually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school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motorbike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, as it’s very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fast and convenient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That way, I can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avoid traffic jams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save a lot of time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00692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A9151-F52B-D23D-AFD7-4483BA69B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BC4656EF-679D-3D82-87B8-02122AF3D6EF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7A806AA9-8687-530F-71FA-2A61F42B1B92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ED1B461D-5A6E-0E90-8E6A-A82A1B03C2E9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6EAB285-1FC3-D90A-83AF-E7273FA60467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often do you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exercise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shopping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often do you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watch movies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6483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0E497-BF27-A4E1-3880-77CB1FE22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7D08F824-B8EE-032F-F3D3-DFB3BB49C9B1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AA5AA05-1088-D690-E394-32ED289D07E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B9FF3DB0-8AB6-521F-3DED-2491348A1487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390FF9-9814-1DF1-0FD0-700A088B6172}"/>
              </a:ext>
            </a:extLst>
          </p:cNvPr>
          <p:cNvSpPr txBox="1"/>
          <p:nvPr/>
        </p:nvSpPr>
        <p:spPr>
          <a:xfrm>
            <a:off x="800100" y="1875348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Although I have a busy schedule, I still try to 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500" b="1" dirty="0" err="1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5500" b="1" dirty="0">
                <a:solidFill>
                  <a:srgbClr val="FF0000"/>
                </a:solidFill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[tần suất]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Moreover, it makes me feel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49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E7C6A-BF39-C5E5-B726-FCE99ED8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474E696-CD5A-6B32-3DD9-56F5742D16AE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CB5533-B042-C952-922B-E0CC36470F97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895448-C584-E86E-2408-17556E6FDEB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73F4E1-BC62-EF62-11C0-1FD10AC2257B}"/>
              </a:ext>
            </a:extLst>
          </p:cNvPr>
          <p:cNvSpPr txBox="1"/>
          <p:nvPr/>
        </p:nvSpPr>
        <p:spPr>
          <a:xfrm>
            <a:off x="800100" y="1541873"/>
            <a:ext cx="16687799" cy="7203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often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go to the library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week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Although I have a busy schedule, I still try to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go to the library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twice a week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focus better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study more effectively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Moreover, it makes me feel more </a:t>
            </a:r>
            <a:r>
              <a:rPr lang="en-US" sz="5000" b="1" dirty="0">
                <a:solidFill>
                  <a:srgbClr val="00B050"/>
                </a:solidFill>
                <a:latin typeface="American Typewriter" panose="02090604020004020304" pitchFamily="18" charset="77"/>
              </a:rPr>
              <a:t>productive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862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A8B01-B4FA-445F-07F5-86CEC599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21052372-3457-3A7E-3F0C-DD40ACA3A20B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5483ED76-BB49-8583-8F81-DDAFA260F4C0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46C4AF0E-9ADB-B0CE-B1B1-B054BA11D70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A84B4F-FE02-BF9D-BA4C-4859999FE762}"/>
              </a:ext>
            </a:extLst>
          </p:cNvPr>
          <p:cNvSpPr txBox="1"/>
          <p:nvPr/>
        </p:nvSpPr>
        <p:spPr>
          <a:xfrm>
            <a:off x="800100" y="1733306"/>
            <a:ext cx="16687800" cy="7060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time do you spend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500" b="1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– V</a:t>
            </a:r>
            <a:r>
              <a:rPr lang="vi-VN" sz="4800" b="1" kern="100" baseline="-250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reading books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using social media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time do you spend 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exercising</a:t>
            </a:r>
            <a:r>
              <a:rPr kumimoji="0" lang="en-US" sz="45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110910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1DFEE-45F7-D6D4-B576-12D8084D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A1AA56F-C2E8-58FB-6422-E09C26CA1294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97AFA3BA-A21D-9FC3-5EEC-7333E93430C1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3C24DEDC-AAE7-2936-DC0A-265917213FC2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B0E75AA-E713-660C-9C4A-B9EC67C2C528}"/>
              </a:ext>
            </a:extLst>
          </p:cNvPr>
          <p:cNvSpPr txBox="1"/>
          <p:nvPr/>
        </p:nvSpPr>
        <p:spPr>
          <a:xfrm>
            <a:off x="800100" y="1237256"/>
            <a:ext cx="16687800" cy="773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kumimoji="0" lang="vi-VN" sz="55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Although I</a:t>
            </a:r>
            <a:r>
              <a:rPr kumimoji="0" lang="vi-VN" sz="5500" b="0" i="0" u="none" strike="noStrike" kern="1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have a busy schdule,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still spend about </a:t>
            </a:r>
            <a:r>
              <a:rPr lang="vi-VN" sz="5500" b="1" kern="100" dirty="0">
                <a:solidFill>
                  <a:srgbClr val="00B0F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[lượng thời gian]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[hoạt động – V</a:t>
            </a:r>
            <a:r>
              <a:rPr lang="vi-VN" sz="5500" b="1" kern="100" baseline="-250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ing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5500" kern="100" dirty="0"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day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because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1]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and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 2]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Moreover, it makes me feel more </a:t>
            </a:r>
            <a:r>
              <a:rPr lang="vi-VN" sz="5500" b="1" kern="100" dirty="0">
                <a:solidFill>
                  <a:srgbClr val="00B05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[tính từ cảm xúc]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63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00187-BBE7-5491-D522-225C117F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DE48D4B-0380-0C78-997C-89043F9AF881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2E643F-D774-B043-6EB2-3E26AF6F4E9C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030BABF-AE5B-B9FE-7456-100771584641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8C732F-D08E-385D-1233-5C3BC13F36EF}"/>
              </a:ext>
            </a:extLst>
          </p:cNvPr>
          <p:cNvSpPr txBox="1"/>
          <p:nvPr/>
        </p:nvSpPr>
        <p:spPr>
          <a:xfrm>
            <a:off x="800100" y="961778"/>
            <a:ext cx="16687799" cy="836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EXAMPLE: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time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studying English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Although I have a busy schedule,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 still spend about </a:t>
            </a:r>
            <a:r>
              <a:rPr lang="en-US" sz="5000" b="1" dirty="0">
                <a:solidFill>
                  <a:srgbClr val="00B0F0"/>
                </a:solidFill>
                <a:latin typeface="American Typewriter" panose="02090604020004020304" pitchFamily="18" charset="77"/>
              </a:rPr>
              <a:t>two hours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studying English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every day because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enrich my vocabulary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and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improve my pronunciation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 It also makes me feel more </a:t>
            </a:r>
            <a:r>
              <a:rPr lang="en-US" sz="5000" b="1" dirty="0">
                <a:solidFill>
                  <a:schemeClr val="accent6"/>
                </a:solidFill>
                <a:latin typeface="American Typewriter" panose="02090604020004020304" pitchFamily="18" charset="77"/>
              </a:rPr>
              <a:t>confident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575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B29634-1949-44FD-9B79-17CAF136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41E819FC-0A6D-4C1E-F3B7-7DBE18E6EC0E}"/>
              </a:ext>
            </a:extLst>
          </p:cNvPr>
          <p:cNvGrpSpPr/>
          <p:nvPr/>
        </p:nvGrpSpPr>
        <p:grpSpPr>
          <a:xfrm>
            <a:off x="304800" y="342900"/>
            <a:ext cx="17678400" cy="9677400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A3FAFBD-578F-60B0-66FF-CF217BFABE58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7868AA78-F9A4-4CD8-68EB-FF7F02C8EBFB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EC9EA2A-D544-F375-52D1-486DE9472C5F}"/>
              </a:ext>
            </a:extLst>
          </p:cNvPr>
          <p:cNvSpPr txBox="1"/>
          <p:nvPr/>
        </p:nvSpPr>
        <p:spPr>
          <a:xfrm>
            <a:off x="800100" y="927508"/>
            <a:ext cx="16687800" cy="8726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4500" b="1" dirty="0">
                <a:solidFill>
                  <a:prstClr val="black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much money do you spend on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 – noun</a:t>
            </a:r>
            <a:r>
              <a:rPr lang="vi-VN" sz="4800" b="1" kern="100" dirty="0">
                <a:solidFill>
                  <a:srgbClr val="FF0000"/>
                </a:solidFill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] </a:t>
            </a:r>
            <a:r>
              <a:rPr lang="vi-VN" sz="4800" b="1" kern="100" dirty="0">
                <a:highlight>
                  <a:srgbClr val="FFFF00"/>
                </a:highlight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every month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merican Typewriter" panose="02090604020004020304" pitchFamily="18" charset="77"/>
                <a:ea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EXAMPLE: 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books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food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every month?</a:t>
            </a:r>
          </a:p>
          <a:p>
            <a:pPr marL="685800" indent="-685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  <a:defRPr/>
            </a:pP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 much money do you spend on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entertainment </a:t>
            </a:r>
            <a:r>
              <a:rPr lang="en-US" sz="4000" b="1" i="1" dirty="0">
                <a:solidFill>
                  <a:srgbClr val="EEECE1">
                    <a:lumMod val="50000"/>
                  </a:srgbClr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month? </a:t>
            </a:r>
            <a:endParaRPr kumimoji="0" lang="en-US" sz="4000" b="1" i="1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9054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4E35C-6762-ED56-5D74-8361084F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6">
            <a:extLst>
              <a:ext uri="{FF2B5EF4-FFF2-40B4-BE49-F238E27FC236}">
                <a16:creationId xmlns:a16="http://schemas.microsoft.com/office/drawing/2014/main" id="{1A278234-D042-5686-1909-029F482ED78E}"/>
              </a:ext>
            </a:extLst>
          </p:cNvPr>
          <p:cNvGrpSpPr/>
          <p:nvPr/>
        </p:nvGrpSpPr>
        <p:grpSpPr>
          <a:xfrm>
            <a:off x="304800" y="266700"/>
            <a:ext cx="17678400" cy="9677399"/>
            <a:chOff x="0" y="0"/>
            <a:chExt cx="4274726" cy="1358173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135B3263-E857-DD86-FA1F-2A2B04192079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25104FA8-9A97-A66B-2EFC-9B137E985378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CE9D-45F8-CF71-225C-754C89D60128}"/>
              </a:ext>
            </a:extLst>
          </p:cNvPr>
          <p:cNvSpPr txBox="1"/>
          <p:nvPr/>
        </p:nvSpPr>
        <p:spPr>
          <a:xfrm>
            <a:off x="800100" y="1913449"/>
            <a:ext cx="16687800" cy="6460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5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SUGGESTED ANSWER: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vi-VN" sz="55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→ B2: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I’m still a student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, so </a:t>
            </a:r>
            <a:r>
              <a:rPr lang="vi-VN" sz="5500" b="1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I try to keep my spending under control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. I often spend about </a:t>
            </a:r>
            <a:r>
              <a:rPr lang="vi-VN" sz="5500" b="1" kern="100" dirty="0">
                <a:solidFill>
                  <a:schemeClr val="accent3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[số tiền]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on </a:t>
            </a:r>
            <a:r>
              <a:rPr lang="vi-VN" sz="5500" b="1" kern="100" dirty="0">
                <a:solidFill>
                  <a:srgbClr val="FF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[thứ gì đó]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 every month. It allows me to </a:t>
            </a:r>
            <a:r>
              <a:rPr lang="vi-VN" sz="5500" b="1" kern="100" dirty="0">
                <a:solidFill>
                  <a:schemeClr val="accent4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[lợi ích] </a:t>
            </a:r>
            <a:r>
              <a:rPr lang="vi-VN" sz="5500" kern="100" dirty="0">
                <a:solidFill>
                  <a:srgbClr val="000000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Apple Color Emoji" pitchFamily="2" charset="0"/>
              </a:rPr>
              <a:t>while still saving some money.</a:t>
            </a:r>
            <a:endParaRPr kumimoji="0" lang="vi-VN" sz="55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American Typewriter" panose="02090604020004020304" pitchFamily="18" charset="77"/>
              <a:ea typeface="Calibri" panose="020F0502020204030204" pitchFamily="34" charset="0"/>
              <a:cs typeface="Apple Color Emoj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64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6452F-0E8A-FA99-9385-AE911083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F1C0957-6DD0-712F-2AE1-A4671367B34B}"/>
              </a:ext>
            </a:extLst>
          </p:cNvPr>
          <p:cNvGrpSpPr/>
          <p:nvPr/>
        </p:nvGrpSpPr>
        <p:grpSpPr>
          <a:xfrm>
            <a:off x="304800" y="258671"/>
            <a:ext cx="17678400" cy="9769658"/>
            <a:chOff x="0" y="0"/>
            <a:chExt cx="4274726" cy="135817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2B76BA-8CE9-418A-8389-83710BACEA6D}"/>
                </a:ext>
              </a:extLst>
            </p:cNvPr>
            <p:cNvSpPr/>
            <p:nvPr/>
          </p:nvSpPr>
          <p:spPr>
            <a:xfrm>
              <a:off x="0" y="0"/>
              <a:ext cx="4274726" cy="1358173"/>
            </a:xfrm>
            <a:custGeom>
              <a:avLst/>
              <a:gdLst/>
              <a:ahLst/>
              <a:cxnLst/>
              <a:rect l="l" t="t" r="r" b="b"/>
              <a:pathLst>
                <a:path w="4274726" h="1358173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33846"/>
                  </a:lnTo>
                  <a:cubicBezTo>
                    <a:pt x="4274726" y="1347282"/>
                    <a:pt x="4263834" y="1358173"/>
                    <a:pt x="4250399" y="1358173"/>
                  </a:cubicBezTo>
                  <a:lnTo>
                    <a:pt x="24327" y="1358173"/>
                  </a:lnTo>
                  <a:cubicBezTo>
                    <a:pt x="10891" y="1358173"/>
                    <a:pt x="0" y="1347282"/>
                    <a:pt x="0" y="13338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85AA89"/>
              </a:solidFill>
              <a:prstDash val="lgDash"/>
              <a:rou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V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D551BC7-0133-24A5-A579-30B28576D303}"/>
                </a:ext>
              </a:extLst>
            </p:cNvPr>
            <p:cNvSpPr txBox="1"/>
            <p:nvPr/>
          </p:nvSpPr>
          <p:spPr>
            <a:xfrm>
              <a:off x="0" y="-47625"/>
              <a:ext cx="4274726" cy="1405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653FA49-8D44-E215-752A-735915B73DF9}"/>
              </a:ext>
            </a:extLst>
          </p:cNvPr>
          <p:cNvSpPr txBox="1"/>
          <p:nvPr/>
        </p:nvSpPr>
        <p:spPr>
          <a:xfrm>
            <a:off x="800100" y="964792"/>
            <a:ext cx="16687799" cy="835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&amp;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EXAMPLE</a:t>
            </a:r>
            <a:endParaRPr kumimoji="0" lang="en-VN" sz="5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How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5000" b="1" noProof="0" dirty="0">
                <a:solidFill>
                  <a:prstClr val="black"/>
                </a:solidFill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much money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do you spend on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clothes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5000" b="1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every month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erican Typewriter" panose="02090604020004020304" pitchFamily="18" charset="77"/>
                <a:ea typeface="Calibri" panose="020F0502020204030204" pitchFamily="34" charset="0"/>
                <a:cs typeface="Times New Roman" panose="02020603050405020304" pitchFamily="18" charset="0"/>
              </a:rPr>
              <a:t>→ B2: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I’m still a student, so I try to keep my spending under control. I only spend about </a:t>
            </a:r>
            <a:r>
              <a:rPr lang="en-US" sz="5000" b="1" dirty="0">
                <a:solidFill>
                  <a:schemeClr val="accent3"/>
                </a:solidFill>
                <a:latin typeface="American Typewriter" panose="02090604020004020304" pitchFamily="18" charset="77"/>
              </a:rPr>
              <a:t>$50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on </a:t>
            </a:r>
            <a:r>
              <a:rPr lang="en-US" sz="5000" b="1" dirty="0">
                <a:solidFill>
                  <a:srgbClr val="FF0000"/>
                </a:solidFill>
                <a:latin typeface="American Typewriter" panose="02090604020004020304" pitchFamily="18" charset="77"/>
              </a:rPr>
              <a:t>clothes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 every month. It allows me to </a:t>
            </a:r>
            <a:r>
              <a:rPr lang="en-US" sz="5000" b="1" dirty="0">
                <a:solidFill>
                  <a:schemeClr val="accent4"/>
                </a:solidFill>
                <a:latin typeface="American Typewriter" panose="02090604020004020304" pitchFamily="18" charset="77"/>
              </a:rPr>
              <a:t>buy the clothes I need </a:t>
            </a:r>
            <a:r>
              <a:rPr lang="en-US" sz="5000" dirty="0">
                <a:solidFill>
                  <a:prstClr val="black"/>
                </a:solidFill>
                <a:latin typeface="American Typewriter" panose="02090604020004020304" pitchFamily="18" charset="77"/>
              </a:rPr>
              <a:t>while still saving some money.</a:t>
            </a:r>
          </a:p>
        </p:txBody>
      </p:sp>
    </p:spTree>
    <p:extLst>
      <p:ext uri="{BB962C8B-B14F-4D97-AF65-F5344CB8AC3E}">
        <p14:creationId xmlns:p14="http://schemas.microsoft.com/office/powerpoint/2010/main" val="124915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28838</TotalTime>
  <Words>4591</Words>
  <Application>Microsoft Macintosh PowerPoint</Application>
  <PresentationFormat>Custom</PresentationFormat>
  <Paragraphs>372</Paragraphs>
  <Slides>90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American Typewriter</vt:lpstr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Tùng Nguyễn Minh</cp:lastModifiedBy>
  <cp:revision>178</cp:revision>
  <dcterms:created xsi:type="dcterms:W3CDTF">2006-08-16T00:00:00Z</dcterms:created>
  <dcterms:modified xsi:type="dcterms:W3CDTF">2026-09-05T09:14:26Z</dcterms:modified>
  <dc:identifier>DAG7GToMAuM</dc:identifier>
</cp:coreProperties>
</file>